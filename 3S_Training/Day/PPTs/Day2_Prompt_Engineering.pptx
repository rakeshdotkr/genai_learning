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89735" autoAdjust="0"/>
  </p:normalViewPr>
  <p:slideViewPr>
    <p:cSldViewPr snapToGrid="0" snapToObjects="1">
      <p:cViewPr varScale="1">
        <p:scale>
          <a:sx n="84" d="100"/>
          <a:sy n="84" d="100"/>
        </p:scale>
        <p:origin x="1003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64E33-25EC-4263-9ACD-03B4302E796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527D1-626E-4238-80B5-C1CFCAADA9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37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prompt template is a reusable instruction with placeholders for details that change. It saves time and keeps prompts consistent across requests. Application example: a shopping app uses the same product-description prompt while inserting a different product name and features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System messages set the assistant’s overall behavior, user messages contain the request, and assistant messages contain the reply. Keeping these roles separate makes conversations easier to manage. Application example: a helpdesk bot gets its polite-tone rules from the system message and the customer’s complaint from the user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system prompt explains what the assistant should do, who it helps, and how it should respond. Clear rules make answers more consistent. Application example: a college chatbot is instructed to answer admission questions briefly and direct unrelated questions to the appropriate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system prompt guides behavior, but it cannot secure an application by itself. The application must separately check permissions and validate actions. Application example: even if a chatbot is told not to reveal student records, the backend must still verify the user’s access before returning those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Reusable templates keep fixed instructions separate from changing values. This reduces copy-paste work and helps maintain consistent prompts. Application example: a customer-support app inserts the customer’s product, issue, and message into one standard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Python f-strings insert variable values into text when the program runs. They are a simple way to create prompts without a template framework. Application example: a function builds a prompt using a customer’s name and question before sending it to an AI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LangChain is a framework for connecting language models with prompts, parsers, and other reusable components. It helps organize a larger AI workflow rather than replacing the model. Application example: a support app formats a question, sends it to a model, and prepares the response for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framework provides ready-made structures and conventions so developers do not have to build every part from scratch. It can save effort, though it adds concepts and dependencies. Application example: a team uses LangChain components instead of writing all prompt and model-integration code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chat request is made up of messages with roles such as system, user, and assistant. The roles help distinguish instructions, questions, and previous replies. Application example: a travel chatbot combines its system rules with the user’s destination request and relevant earlier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LangChain PromptTemplate creates reusable text prompts with named variables. Supplying values fills the placeholders and produces the final prompt. Application example: an e-commerce app inserts a product name and feature list into a standard prompt to generate a product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ChatPromptTemplate creates a set of role-based chat messages, such as a system instruction and a user question. It keeps conversation structure clear while allowing variable values. Application example: a tutor app sets teaching instructions in the system message and inserts the learner’s question into the user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LangChain model adapters connect a workflow to different model providers. Ollama can connect to a locally running model, while Gemini connects to Google’s hosted service. Application example: a prototype can use a local model for private experimentation and a cloud model when it needs a different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pipeline or chain links steps so that one step’s output becomes the next step’s input. This makes multi-step workflows easier to organize. Application example: an app builds a prompt, asks the model for an answer, and then converts that answer into a usable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LCEL, or LangChain Expression Language, is a way to connect compatible LangChain components into a runnable workflow. Think of it as a concise description of the steps in a pipeline. Application example: connect a prompt template, a model, and an output parser to create a question-answering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pipe operator connects steps in an LCEL workflow in order. Data moves from the prompt template to the model and then to the parser. Application example: a product-review app creates a sentiment prompt, gets a model response, and parses the result into a simple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multi-turn conversation includes earlier messages as context for later replies. A model does not necessarily remember separate calls unless the application sends the relevant history. Application example: a booking chatbot uses the previous messages to understand that “make it one day later” refers to the trip being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Conversation history should contain relevant messages in the right order, without growing unnecessarily large. Applications should also consider privacy when storing it. Application example: a support bot keeps the last few messages about a current issue rather than sending the customer’s entire chat history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Models often return flexible text, but applications usually need predictable fields to store or act on. Parsing and validation help turn the response into usable data. Application example: a recruitment app extracts a candidate’s skills and years of experience into separate fields before displaying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Structured output follows an agreed format, such as JSON with named fields. Parsing turns that output into application data, while validation checks whether it meets the required rules. Application example: a support bot returns a customer’s issue category and urgency as JSON so the ticket can be routed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JSON is a common text format for exchanging data using key-value objects and ordered arrays. Applications can read it consistently when its syntax and field types are correct. Application example: a shopping API returns a product’s name, price, and stock status as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JSON gives data a predictable structure with field names and value types. Specifying the exact format helps applications handle model responses, but valid JSON can still contain wrong information. Application example: ask an AI to return a support ticket with only “category” and “priority”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JSON parsing converts JSON text into Python data such as dictionaries and lists. Code should handle invalid JSON and check required fields and types. Application example: if an AI returns a customer record, the app checks that the email field exists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Some model APIs offer JSON or structured-response modes to help produce output in the requested format. Support differs by provider and model, so the result still needs validation. Application example: a ticket-classification service requests JSON from the model and then checks that the category is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output parser converts a model response into a form an application can use, such as plain text or structured data. A parser can fail if the response does not match the expected format and does not verify factual truth. Application example: a chatbot parses a model response before passing it to the next step in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LangChain offers different parsers for different needs: plain text, JSON-like data, or a Pydantic model with defined fields. Choosing the right parser makes the next application step simpler. Application example: use a string parser for an explanation, a JSON parser for ticket details, or Pydantic for typed contact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StrOutputParser extracts the text from a model response so the application can use it directly. It does not check whether the answer is correct. Application example: a learning app uses it to display an AI-generated explanation without the surrounding chat-message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JsonOutputParser converts a JSON-formatted model response into Python data such as a dictionary or list. The application should still check required fields and types. Application example: a customer-support bot parses a response containing issue type and urgency, then checks both values before routing the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Pydantic lets developers define a data model with expected fields and types, then checks incoming data against it. This catches missing or incompatible values, though it cannot prove that the information is true. Application example: validate that extracted contact details include a name and a correctly typed email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Parsing makes text or JSON readable as data; validation checks whether that data meets expected rules. Both are needed because data can be readable but still unsuitable. Application example: parse a booking request as JSON, then validate that the number of tickets is positive and the showtime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Pydantic model defines the fields and types that data must follow, with optional validation rules. It reports missing fields or incompatible values before the application uses them. Application example: define a model for a support ticket with required customer email, issue category, and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Pydantic output parsing turns model-generated structured data into a typed object and checks it against a model. The application must still handle errors and apply business rules. Application example: parse extracted contact information, then check that the email address is acceptable before saving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prompt-to-data pipeline moves from user input to a filled prompt, model response, parsing, and validation before the application uses the result. Each stage has a distinct job. Application example: a support bot classifies a complaint, validates the category, and only then creates a ticket 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Common problems include unclear prompts, inconsistent examples, excessive history, malformed JSON, and parser failures. Clear error handling, limited retries, and safe fallbacks make the application more reliable. Application example: if an AI returns an invalid ticket category, ask for a retry once or send the ticket for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Treat both user input and model output as untrusted. Protect secrets, enforce authorization in application code, and validate data before actions such as database writes. Application example: an AI assistant may suggest a refund, but the backend must check the user’s permissions and refund rules before processing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exercise combines the lesson’s ideas into a phone-company support assistant. You define its behavior, reusable prompt, classification approach, data schema, and error handling. Application example: the assistant collects a customer’s issue and intent, then creates a support ticket only after required fields are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summarizes the main ideas: clear prompts, suitable prompting techniques, message roles, reusable templates, conversation history, and structured output. Together, they help make model responses easier to use in software. Application example: a chatbot uses a template and conversation context, then validates structured details before updating a support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questions check whether you understand when to use examples, how message roles differ, and how templates and parsers work. They help identify concepts that need another review. Application example: when building an AI feature, you should be able to explain why parsing JSON is different from validating its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next step is to combine these concepts in a chatbot with a chat interface, conversation context, and a local or cloud model. Error handling and conversation state are important parts of the application. Application example: build a chatbot that remembers the current topic during a session and safely handles model or network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6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8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9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94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43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1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9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6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4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5131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8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t>Day 2 —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524000" y="1949570"/>
            <a:ext cx="9144000" cy="330823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2000"/>
              <a:t>Python 3.13+ | Local models with Ollama | Cloud models with Gemini</a:t>
            </a:r>
          </a:p>
          <a:p>
            <a:pPr>
              <a:defRPr sz="2000"/>
            </a:pPr>
            <a:endParaRPr sz="2000"/>
          </a:p>
          <a:p>
            <a:pPr>
              <a:defRPr sz="2000"/>
            </a:pPr>
            <a:r>
              <a:rPr sz="2000"/>
              <a:t>Learning path: prompt design → reusable templates → model conversations → structured output</a:t>
            </a:r>
          </a:p>
          <a:p>
            <a:pPr>
              <a:defRPr sz="2000"/>
            </a:pPr>
            <a:r>
              <a:rPr sz="2000"/>
              <a:t>Goal: learn how to make LLM responses clearer, more consistent, and easier for applications to use.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A24173-47C6-B7AD-F79A-406B4B136A66}"/>
              </a:ext>
            </a:extLst>
          </p:cNvPr>
          <p:cNvSpPr txBox="1">
            <a:spLocks/>
          </p:cNvSpPr>
          <p:nvPr/>
        </p:nvSpPr>
        <p:spPr>
          <a:xfrm>
            <a:off x="1112806" y="421318"/>
            <a:ext cx="7972245" cy="5748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Quicksand" pitchFamily="2" charset="0"/>
                <a:ea typeface="+mj-ea"/>
                <a:cs typeface="+mj-cs"/>
              </a:defRPr>
            </a:lvl1pPr>
          </a:lstStyle>
          <a:p>
            <a:pPr>
              <a:defRPr sz="2800"/>
            </a:pPr>
            <a:r>
              <a:rPr lang="en-US" sz="4000" dirty="0"/>
              <a:t>Day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How Today’s Topics Fit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 large language model (LLM) generates text from the input and context it receives.</a:t>
            </a:r>
          </a:p>
          <a:p>
            <a:pPr>
              <a:defRPr sz="2000"/>
            </a:pPr>
            <a:r>
              <a:rPr sz="2000"/>
              <a:t>A prompt gives the model a task, context, instructions, and expected output.</a:t>
            </a:r>
          </a:p>
          <a:p>
            <a:pPr>
              <a:defRPr sz="2000"/>
            </a:pPr>
            <a:r>
              <a:rPr sz="2000"/>
              <a:t>Prompting techniques improve how the task is communicated.</a:t>
            </a:r>
          </a:p>
          <a:p>
            <a:pPr>
              <a:defRPr sz="2000"/>
            </a:pPr>
            <a:r>
              <a:rPr sz="2000"/>
              <a:t>Templates make prompts reusable; chat messages organize instructions and conversation turns.</a:t>
            </a:r>
          </a:p>
          <a:p>
            <a:pPr>
              <a:defRPr sz="2000"/>
            </a:pPr>
            <a:r>
              <a:rPr sz="2000"/>
              <a:t>Output parsing turns a model response into a form an application can handle.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What Is a Large Language Model (LLM)?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 large language model is an AI model trained on large amounts of data to recognize patterns and generate language.</a:t>
            </a:r>
          </a:p>
          <a:p>
            <a:pPr>
              <a:defRPr sz="2000"/>
            </a:pPr>
            <a:r>
              <a:rPr sz="2000"/>
              <a:t>It generates a response from the input and context it receives; it does not automatically guarantee truth or correctness.</a:t>
            </a:r>
          </a:p>
          <a:p>
            <a:pPr>
              <a:defRPr sz="2000"/>
            </a:pPr>
            <a:r>
              <a:rPr sz="2000"/>
              <a:t>In this lesson, the LLM is the component that produces the text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What Is an API and a Client Library?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An API is a defined interface that lets one software system request a service from another.</a:t>
            </a:r>
          </a:p>
          <a:p>
            <a:pPr>
              <a:defRPr sz="2000"/>
            </a:pPr>
            <a:r>
              <a:rPr sz="2000"/>
              <a:t>A client library is code that makes those requests easier to write from an application.</a:t>
            </a:r>
          </a:p>
          <a:p>
            <a:pPr>
              <a:defRPr sz="2000"/>
            </a:pPr>
            <a:r>
              <a:rPr sz="2000"/>
              <a:t>For model applications, the client sends prompts or messages and receives model responses.</a:t>
            </a:r>
          </a:p>
          <a:p>
            <a:pPr>
              <a:defRPr sz="2000"/>
            </a:pPr>
            <a:r>
              <a:rPr sz="2000"/>
              <a:t>An API call can fail because of invalid credentials, network issues, quotas, or unsupported settings.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Local Inference vs. Cloud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Local inference means running a model on your own computer, for example through Ollama.</a:t>
            </a:r>
          </a:p>
          <a:p>
            <a:pPr>
              <a:defRPr sz="2000"/>
            </a:pPr>
            <a:r>
              <a:rPr sz="2000"/>
              <a:t>Cloud inference means sending a request to a provider-hosted model, for example Gemini.</a:t>
            </a:r>
          </a:p>
          <a:p>
            <a:pPr>
              <a:defRPr sz="2000"/>
            </a:pPr>
            <a:r>
              <a:rPr sz="2000"/>
              <a:t>Local use depends on hardware and memory; cloud use typically needs internet access and credentials.</a:t>
            </a:r>
          </a:p>
          <a:p>
            <a:pPr>
              <a:defRPr sz="2000"/>
            </a:pPr>
            <a:r>
              <a:rPr sz="2000"/>
              <a:t>Prompting concepts can often transfer between providers, while setup and supported options may differ.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Tokens, Temperature, and Output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 token is a small unit of text processed by a model; it may be a whole word, part of a word, or punctuation.</a:t>
            </a:r>
          </a:p>
          <a:p>
            <a:pPr>
              <a:defRPr sz="2000"/>
            </a:pPr>
            <a:r>
              <a:rPr sz="2000"/>
              <a:t>Input context and generated output are limited by token budgets.</a:t>
            </a:r>
          </a:p>
          <a:p>
            <a:pPr>
              <a:defRPr sz="2000"/>
            </a:pPr>
            <a:r>
              <a:rPr sz="2000"/>
              <a:t>Temperature influences response variability; a lower value often makes outputs more consistent, but never guarantees correctness.</a:t>
            </a:r>
          </a:p>
          <a:p>
            <a:pPr>
              <a:defRPr sz="2000"/>
            </a:pPr>
            <a:r>
              <a:rPr sz="2000"/>
              <a:t>Keep the task and prompt constant when comparing settings so the result is easier to interpret.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Explain how prompt design influences model responses</a:t>
            </a:r>
          </a:p>
          <a:p>
            <a:pPr>
              <a:defRPr sz="2000"/>
            </a:pPr>
            <a:r>
              <a:rPr sz="2000"/>
              <a:t>Choose zero-shot, few-shot, stepwise and role prompting</a:t>
            </a:r>
          </a:p>
          <a:p>
            <a:pPr>
              <a:defRPr sz="2000"/>
            </a:pPr>
            <a:r>
              <a:rPr sz="2000"/>
              <a:t>Distinguish system, user and assistant messages</a:t>
            </a:r>
          </a:p>
          <a:p>
            <a:pPr>
              <a:defRPr sz="2000"/>
            </a:pPr>
            <a:r>
              <a:rPr sz="2000"/>
              <a:t>Understand reusable prompt templates and LangChain chains</a:t>
            </a:r>
          </a:p>
          <a:p>
            <a:pPr>
              <a:defRPr sz="2000"/>
            </a:pPr>
            <a:r>
              <a:rPr sz="2000"/>
              <a:t>Explain why model output must be parsed and validated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Day 2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Session 1: Prompt engineering fundamentals</a:t>
            </a:r>
          </a:p>
          <a:p>
            <a:pPr>
              <a:defRPr sz="2000"/>
            </a:pPr>
            <a:r>
              <a:rPr sz="2000"/>
              <a:t>Session 2: Prompt templates, system prompts and multi-turn conversations</a:t>
            </a:r>
          </a:p>
          <a:p>
            <a:pPr>
              <a:defRPr sz="2000"/>
            </a:pPr>
            <a:r>
              <a:rPr sz="2000"/>
              <a:t>Session 3: Output parsing and structured outputs</a:t>
            </a:r>
          </a:p>
          <a:p>
            <a:pPr>
              <a:defRPr sz="2000"/>
            </a:pPr>
            <a:r>
              <a:rPr sz="2000"/>
              <a:t>Assessment: prompting techniques, message roles, templates and parsers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What Is Prompt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Prompt engineering shapes instructions and context to guide a model’s response</a:t>
            </a:r>
          </a:p>
          <a:p>
            <a:pPr>
              <a:defRPr sz="2000"/>
            </a:pPr>
            <a:r>
              <a:rPr sz="2000"/>
              <a:t>The model can remain unchanged while the result changes substantially with a better prompt</a:t>
            </a:r>
          </a:p>
          <a:p>
            <a:pPr>
              <a:defRPr sz="2000"/>
            </a:pPr>
            <a:r>
              <a:rPr sz="2000"/>
              <a:t>A good prompt clarifies the task and expected result</a:t>
            </a:r>
          </a:p>
          <a:p>
            <a:pPr>
              <a:defRPr sz="2000"/>
            </a:pPr>
            <a:r>
              <a:rPr sz="2000"/>
              <a:t>Prompting improves direction and consistency but does not guarantee correctness</a:t>
            </a:r>
          </a:p>
          <a:p>
            <a:pPr>
              <a:defRPr sz="2000"/>
            </a:pPr>
            <a:r>
              <a:rPr sz="2000"/>
              <a:t>Evaluate prompts with representative examples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Anatomy of a Good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Task: state what the model should do</a:t>
            </a:r>
          </a:p>
          <a:p>
            <a:pPr>
              <a:defRPr sz="2000"/>
            </a:pPr>
            <a:r>
              <a:rPr sz="2000"/>
              <a:t>Audience: identify who the response is for</a:t>
            </a:r>
          </a:p>
          <a:p>
            <a:pPr>
              <a:defRPr sz="2000"/>
            </a:pPr>
            <a:r>
              <a:rPr sz="2000"/>
              <a:t>Format: specify bullets, a sentence, a table or JSON</a:t>
            </a:r>
          </a:p>
          <a:p>
            <a:pPr>
              <a:defRPr sz="2000"/>
            </a:pPr>
            <a:r>
              <a:rPr sz="2000"/>
              <a:t>Constraints: define length, scope, language and exclusions</a:t>
            </a:r>
          </a:p>
          <a:p>
            <a:pPr>
              <a:defRPr sz="2000"/>
            </a:pPr>
            <a:r>
              <a:rPr sz="2000"/>
              <a:t>Context: include relevant information</a:t>
            </a:r>
          </a:p>
          <a:p>
            <a:pPr>
              <a:defRPr sz="2000"/>
            </a:pPr>
            <a:r>
              <a:rPr sz="2000"/>
              <a:t>Success criteria: explain what a useful result looks like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Vague vs Specific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Vague requests force the model to guess depth, audience and format</a:t>
            </a:r>
          </a:p>
          <a:p>
            <a:pPr>
              <a:defRPr sz="2000"/>
            </a:pPr>
            <a:r>
              <a:rPr sz="2000"/>
              <a:t>Specific requests reduce ambiguity</a:t>
            </a:r>
          </a:p>
          <a:p>
            <a:pPr>
              <a:defRPr sz="2000"/>
            </a:pPr>
            <a:r>
              <a:rPr sz="2000"/>
              <a:t>Useful constraints include bullet count, word limit and whether code is allowed</a:t>
            </a:r>
          </a:p>
          <a:p>
            <a:pPr>
              <a:defRPr sz="2000"/>
            </a:pPr>
            <a:r>
              <a:rPr sz="2000"/>
              <a:t>Conflicting constraints can reduce usefulness</a:t>
            </a:r>
          </a:p>
          <a:p>
            <a:pPr>
              <a:defRPr sz="2000"/>
            </a:pPr>
            <a:r>
              <a:rPr sz="2000"/>
              <a:t>Compare outputs systematically to understand which instructions help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Zero-Shot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Give the model a task without worked examples</a:t>
            </a:r>
          </a:p>
          <a:p>
            <a:pPr>
              <a:defRPr sz="2000"/>
            </a:pPr>
            <a:r>
              <a:rPr sz="2000"/>
              <a:t>The model relies on learned capabilities and the prompt instructions</a:t>
            </a:r>
          </a:p>
          <a:p>
            <a:pPr>
              <a:defRPr sz="2000"/>
            </a:pPr>
            <a:r>
              <a:rPr sz="2000"/>
              <a:t>Useful for simple classification, translation, summarisation and factual questions</a:t>
            </a:r>
          </a:p>
          <a:p>
            <a:pPr>
              <a:defRPr sz="2000"/>
            </a:pPr>
            <a:r>
              <a:rPr sz="2000"/>
              <a:t>Specify labels and output format to reduce ambiguity</a:t>
            </a:r>
          </a:p>
          <a:p>
            <a:pPr>
              <a:defRPr sz="2000"/>
            </a:pPr>
            <a:r>
              <a:rPr sz="2000"/>
              <a:t>Choose it when the task is straightforward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Zero-Shot: Strengths and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Simple to write, low prompt overhead and easy to reuse</a:t>
            </a:r>
          </a:p>
          <a:p>
            <a:pPr>
              <a:defRPr sz="2000"/>
            </a:pPr>
            <a:r>
              <a:rPr sz="2000"/>
              <a:t>Output format may vary on ambiguous tasks</a:t>
            </a:r>
          </a:p>
          <a:p>
            <a:pPr>
              <a:defRPr sz="2000"/>
            </a:pPr>
            <a:r>
              <a:rPr sz="2000"/>
              <a:t>Explicit instructions can improve consistency without examples</a:t>
            </a:r>
          </a:p>
          <a:p>
            <a:pPr>
              <a:defRPr sz="2000"/>
            </a:pPr>
            <a:r>
              <a:rPr sz="2000"/>
              <a:t>Use a small allowed label set for classification</a:t>
            </a:r>
          </a:p>
          <a:p>
            <a:pPr>
              <a:defRPr sz="2000"/>
            </a:pPr>
            <a:r>
              <a:rPr sz="2000"/>
              <a:t>Check results against known cases before application 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Few-Shot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Include examples of input and desired output in the prompt</a:t>
            </a:r>
          </a:p>
          <a:p>
            <a:pPr>
              <a:defRPr sz="2000"/>
            </a:pPr>
            <a:r>
              <a:rPr sz="2000"/>
              <a:t>The model uses examples as an in-context pattern to imitate</a:t>
            </a:r>
          </a:p>
          <a:p>
            <a:pPr>
              <a:defRPr sz="2000"/>
            </a:pPr>
            <a:r>
              <a:rPr sz="2000"/>
              <a:t>Useful for unusual formats, domain labels and consistent writing styles</a:t>
            </a:r>
          </a:p>
          <a:p>
            <a:pPr>
              <a:defRPr sz="2000"/>
            </a:pPr>
            <a:r>
              <a:rPr sz="2000"/>
              <a:t>Two to four representative examples are a practical starting point</a:t>
            </a:r>
          </a:p>
          <a:p>
            <a:pPr>
              <a:defRPr sz="2000"/>
            </a:pPr>
            <a:r>
              <a:rPr sz="2000"/>
              <a:t>Examples should be accurate and consistent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Designing Few-Shot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Cover common and important variations</a:t>
            </a:r>
          </a:p>
          <a:p>
            <a:pPr>
              <a:defRPr sz="2000"/>
            </a:pPr>
            <a:r>
              <a:rPr sz="2000"/>
              <a:t>Make the input-to-output relationship easy to identify</a:t>
            </a:r>
          </a:p>
          <a:p>
            <a:pPr>
              <a:defRPr sz="2000"/>
            </a:pPr>
            <a:r>
              <a:rPr sz="2000"/>
              <a:t>Use consistent formatting across examples</a:t>
            </a:r>
          </a:p>
          <a:p>
            <a:pPr>
              <a:defRPr sz="2000"/>
            </a:pPr>
            <a:r>
              <a:rPr sz="2000"/>
              <a:t>Include edge cases when they affect expected behavior</a:t>
            </a:r>
          </a:p>
          <a:p>
            <a:pPr>
              <a:defRPr sz="2000"/>
            </a:pPr>
            <a:r>
              <a:rPr sz="2000"/>
              <a:t>Too many examples consume context and can offer diminishing returns</a:t>
            </a:r>
          </a:p>
          <a:p>
            <a:pPr>
              <a:defRPr sz="2000"/>
            </a:pPr>
            <a:r>
              <a:rPr sz="2000"/>
              <a:t>Examples guide behavior but do not permanently train the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Stepwise / Chain-of-Thought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Ask the model to approach a problem in stages</a:t>
            </a:r>
          </a:p>
          <a:p>
            <a:pPr>
              <a:defRPr sz="2000"/>
            </a:pPr>
            <a:r>
              <a:rPr sz="2000"/>
              <a:t>Can help structure arithmetic, logic, planning and debugging tasks</a:t>
            </a:r>
          </a:p>
          <a:p>
            <a:pPr>
              <a:defRPr sz="2000"/>
            </a:pPr>
            <a:r>
              <a:rPr sz="2000"/>
              <a:t>Breaking tasks down can make omissions easier to identify</a:t>
            </a:r>
          </a:p>
          <a:p>
            <a:pPr>
              <a:defRPr sz="2000"/>
            </a:pPr>
            <a:r>
              <a:rPr sz="2000"/>
              <a:t>Request concise explanations or checkable intermediate results when useful</a:t>
            </a:r>
          </a:p>
          <a:p>
            <a:pPr>
              <a:defRPr sz="2000"/>
            </a:pPr>
            <a:r>
              <a:rPr sz="2000"/>
              <a:t>Stepwise wording does not guarantee correctness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Verify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State the problem and the information needed</a:t>
            </a:r>
          </a:p>
          <a:p>
            <a:pPr>
              <a:defRPr sz="2000"/>
            </a:pPr>
            <a:r>
              <a:rPr sz="2000"/>
              <a:t>Ask the model to distinguish assumptions from facts</a:t>
            </a:r>
          </a:p>
          <a:p>
            <a:pPr>
              <a:defRPr sz="2000"/>
            </a:pPr>
            <a:r>
              <a:rPr sz="2000"/>
              <a:t>For calculations, request intermediate values that can be checked</a:t>
            </a:r>
          </a:p>
          <a:p>
            <a:pPr>
              <a:defRPr sz="2000"/>
            </a:pPr>
            <a:r>
              <a:rPr sz="2000"/>
              <a:t>Independently verify important results</a:t>
            </a:r>
          </a:p>
          <a:p>
            <a:pPr>
              <a:defRPr sz="2000"/>
            </a:pPr>
            <a:r>
              <a:rPr sz="2000"/>
              <a:t>Prefer useful, verifiable explanations over fluent claims alone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Give the model a perspective, profession or audience to adopt</a:t>
            </a:r>
          </a:p>
          <a:p>
            <a:pPr>
              <a:defRPr sz="2000"/>
            </a:pPr>
            <a:r>
              <a:rPr sz="2000"/>
              <a:t>Can change vocabulary, tone, depth and framing</a:t>
            </a:r>
          </a:p>
          <a:p>
            <a:pPr>
              <a:defRPr sz="2000"/>
            </a:pPr>
            <a:r>
              <a:rPr sz="2000"/>
              <a:t>Examples: teacher, interviewer, technical reviewer or support agent</a:t>
            </a:r>
          </a:p>
          <a:p>
            <a:pPr>
              <a:defRPr sz="2000"/>
            </a:pPr>
            <a:r>
              <a:rPr sz="2000"/>
              <a:t>Combine a role with a clear task and output constraints</a:t>
            </a:r>
          </a:p>
          <a:p>
            <a:pPr>
              <a:defRPr sz="2000"/>
            </a:pPr>
            <a:r>
              <a:rPr sz="2000"/>
              <a:t>A role is guidance, not proof of real expertise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Choosing a Prompting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Zero-shot: clear, familiar tasks</a:t>
            </a:r>
          </a:p>
          <a:p>
            <a:pPr>
              <a:defRPr sz="2000"/>
            </a:pPr>
            <a:r>
              <a:rPr sz="2000"/>
              <a:t>Few-shot: examples are needed to demonstrate a pattern or format</a:t>
            </a:r>
          </a:p>
          <a:p>
            <a:pPr>
              <a:defRPr sz="2000"/>
            </a:pPr>
            <a:r>
              <a:rPr sz="2000"/>
              <a:t>Stepwise prompting: tasks benefit from decomposition and verification</a:t>
            </a:r>
          </a:p>
          <a:p>
            <a:pPr>
              <a:defRPr sz="2000"/>
            </a:pPr>
            <a:r>
              <a:rPr sz="2000"/>
              <a:t>Role prompting: the answer needs a specific audience or perspective</a:t>
            </a:r>
          </a:p>
          <a:p>
            <a:pPr>
              <a:defRPr sz="2000"/>
            </a:pPr>
            <a:r>
              <a:rPr sz="2000"/>
              <a:t>Techniques can be combined when each adds value</a:t>
            </a:r>
          </a:p>
          <a:p>
            <a:pPr>
              <a:defRPr sz="2000"/>
            </a:pPr>
            <a:r>
              <a:rPr sz="2000"/>
              <a:t>Consider quality, latency, token cost and task requirements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Prompt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Choose a common task, such as explaining an API to a beginner</a:t>
            </a:r>
          </a:p>
          <a:p>
            <a:pPr>
              <a:defRPr sz="2000"/>
            </a:pPr>
            <a:r>
              <a:rPr sz="2000"/>
              <a:t>Create direct, example-led and role-based prompts</a:t>
            </a:r>
          </a:p>
          <a:p>
            <a:pPr>
              <a:defRPr sz="2000"/>
            </a:pPr>
            <a:r>
              <a:rPr sz="2000"/>
              <a:t>Keep the task constant for a fair comparison</a:t>
            </a:r>
          </a:p>
          <a:p>
            <a:pPr>
              <a:defRPr sz="2000"/>
            </a:pPr>
            <a:r>
              <a:rPr sz="2000"/>
              <a:t>Evaluate clarity, correctness, format consistency and usefulness</a:t>
            </a:r>
          </a:p>
          <a:p>
            <a:pPr>
              <a:defRPr sz="2000"/>
            </a:pPr>
            <a:r>
              <a:rPr sz="2000"/>
              <a:t>Record which approach works best and in what circumstances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Local Models and Cloud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Ollama can run supported language models locally</a:t>
            </a:r>
          </a:p>
          <a:p>
            <a:pPr>
              <a:defRPr sz="2000"/>
            </a:pPr>
            <a:r>
              <a:rPr sz="2000"/>
              <a:t>Local inference supports experimentation without sending prompts to a hosted provider</a:t>
            </a:r>
          </a:p>
          <a:p>
            <a:pPr>
              <a:defRPr sz="2000"/>
            </a:pPr>
            <a:r>
              <a:rPr sz="2000"/>
              <a:t>Speed and model size depend on available hardware and memory</a:t>
            </a:r>
          </a:p>
          <a:p>
            <a:pPr>
              <a:defRPr sz="2000"/>
            </a:pPr>
            <a:r>
              <a:rPr sz="2000"/>
              <a:t>Cloud APIs require network connectivity and credential management</a:t>
            </a:r>
          </a:p>
          <a:p>
            <a:pPr>
              <a:defRPr sz="2000"/>
            </a:pPr>
            <a:r>
              <a:rPr sz="2000"/>
              <a:t>Model names and supported settings differ across providers</a:t>
            </a:r>
          </a:p>
          <a:p>
            <a:pPr>
              <a:defRPr sz="2000"/>
            </a:pPr>
            <a:r>
              <a:rPr sz="2000"/>
              <a:t>Choose based on privacy, quality, hardware and operational needs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Model Settings and Prompt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Generation settings influence response length and variation</a:t>
            </a:r>
          </a:p>
          <a:p>
            <a:pPr>
              <a:defRPr sz="2000"/>
            </a:pPr>
            <a:r>
              <a:rPr sz="2000"/>
              <a:t>Temperature commonly adjusts sampling variability</a:t>
            </a:r>
          </a:p>
          <a:p>
            <a:pPr>
              <a:defRPr sz="2000"/>
            </a:pPr>
            <a:r>
              <a:rPr sz="2000"/>
              <a:t>Output-token limits constrain response length</a:t>
            </a:r>
          </a:p>
          <a:p>
            <a:pPr>
              <a:defRPr sz="2000"/>
            </a:pPr>
            <a:r>
              <a:rPr sz="2000"/>
              <a:t>Prompt clarity and model settings solve different problems</a:t>
            </a:r>
          </a:p>
          <a:p>
            <a:pPr>
              <a:defRPr sz="2000"/>
            </a:pPr>
            <a:r>
              <a:rPr sz="2000"/>
              <a:t>Change one variable at a time during evaluation</a:t>
            </a:r>
          </a:p>
          <a:p>
            <a:pPr>
              <a:defRPr sz="2000"/>
            </a:pPr>
            <a:r>
              <a:rPr sz="2000"/>
              <a:t>Use low-variation settings when repeatability matters and the model supports them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Prerequisite: What Is a Prompt Template?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 prompt template is a reusable prompt pattern with named placeholders for values that change between requests.</a:t>
            </a:r>
          </a:p>
          <a:p>
            <a:pPr>
              <a:defRPr sz="2000"/>
            </a:pPr>
            <a:r>
              <a:rPr sz="2000"/>
              <a:t>For example, the stable instructions may remain the same while product, issue, audience, or question varies.</a:t>
            </a:r>
          </a:p>
          <a:p>
            <a:pPr>
              <a:defRPr sz="2000"/>
            </a:pPr>
            <a:r>
              <a:rPr sz="2000"/>
              <a:t>Templates improve consistency and reduce repeated string editing.</a:t>
            </a:r>
          </a:p>
          <a:p>
            <a:pPr>
              <a:defRPr sz="2000"/>
            </a:pPr>
            <a:r>
              <a:rPr sz="2000"/>
              <a:t>Python f-strings are a simple option; LangChain provides structured template components for more composable workflows.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System, User and Assistant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/>
              <a:t>System: developer-defined behavior, scope and constraints</a:t>
            </a:r>
          </a:p>
          <a:p>
            <a:pPr>
              <a:defRPr sz="2000"/>
            </a:pPr>
            <a:r>
              <a:rPr sz="2000" dirty="0"/>
              <a:t>User: the end user’s request or input</a:t>
            </a:r>
          </a:p>
          <a:p>
            <a:pPr>
              <a:defRPr sz="2000"/>
            </a:pPr>
            <a:r>
              <a:rPr sz="2000" dirty="0"/>
              <a:t>Assistant: the model’s response</a:t>
            </a:r>
          </a:p>
          <a:p>
            <a:pPr>
              <a:defRPr sz="2000"/>
            </a:pPr>
            <a:r>
              <a:rPr sz="2000" dirty="0"/>
              <a:t>Separating roles makes conversation structure explicit</a:t>
            </a:r>
          </a:p>
          <a:p>
            <a:pPr>
              <a:defRPr sz="2000"/>
            </a:pPr>
            <a:r>
              <a:rPr sz="2000" dirty="0"/>
              <a:t>Exact role support and instruction hierarchy can vary by interface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Writing a Useful System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/>
              <a:t>Define the assistant’s purpose and audience</a:t>
            </a:r>
          </a:p>
          <a:p>
            <a:pPr>
              <a:defRPr sz="2000"/>
            </a:pPr>
            <a:r>
              <a:rPr sz="2000" dirty="0"/>
              <a:t>Specify tone, response length and format</a:t>
            </a:r>
          </a:p>
          <a:p>
            <a:pPr>
              <a:defRPr sz="2000"/>
            </a:pPr>
            <a:r>
              <a:rPr sz="2000" dirty="0"/>
              <a:t>Set scope boundaries and how to handle unrelated requests</a:t>
            </a:r>
          </a:p>
          <a:p>
            <a:pPr>
              <a:defRPr sz="2000"/>
            </a:pPr>
            <a:r>
              <a:rPr sz="2000" dirty="0"/>
              <a:t>State how uncertainty should be communicated</a:t>
            </a:r>
          </a:p>
          <a:p>
            <a:pPr>
              <a:defRPr sz="2000"/>
            </a:pPr>
            <a:r>
              <a:rPr sz="2000" dirty="0"/>
              <a:t>Keep instructions consistent</a:t>
            </a:r>
          </a:p>
          <a:p>
            <a:pPr>
              <a:defRPr sz="2000"/>
            </a:pPr>
            <a:r>
              <a:rPr sz="2000" dirty="0"/>
              <a:t>Test both in-scope and out-of-scope requests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System Prompt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/>
              <a:t>A system prompt guides the model toward a task and scope</a:t>
            </a:r>
          </a:p>
          <a:p>
            <a:pPr>
              <a:defRPr sz="2000"/>
            </a:pPr>
            <a:r>
              <a:rPr sz="2000" dirty="0"/>
              <a:t>It is not a security boundary by itself</a:t>
            </a:r>
          </a:p>
          <a:p>
            <a:pPr>
              <a:defRPr sz="2000"/>
            </a:pPr>
            <a:r>
              <a:rPr sz="2000" dirty="0"/>
              <a:t>Do not rely on prompt wording alone to protect secrets or authorize actions</a:t>
            </a:r>
          </a:p>
          <a:p>
            <a:pPr>
              <a:defRPr sz="2000"/>
            </a:pPr>
            <a:r>
              <a:rPr sz="2000" dirty="0"/>
              <a:t>Enforce access control and validation in application logic</a:t>
            </a:r>
          </a:p>
          <a:p>
            <a:pPr>
              <a:defRPr sz="2000"/>
            </a:pPr>
            <a:r>
              <a:rPr sz="2000" dirty="0"/>
              <a:t>Test ambiguous and out-of-scope requests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Reusable Prompt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 template contains reusable instructions with variable placeholders</a:t>
            </a:r>
          </a:p>
          <a:p>
            <a:pPr>
              <a:defRPr sz="2000"/>
            </a:pPr>
            <a:r>
              <a:rPr sz="2000"/>
              <a:t>Variables let one prompt structure serve different inputs</a:t>
            </a:r>
          </a:p>
          <a:p>
            <a:pPr>
              <a:defRPr sz="2000"/>
            </a:pPr>
            <a:r>
              <a:rPr sz="2000"/>
              <a:t>Templates reduce repeated editing and improve consistency</a:t>
            </a:r>
          </a:p>
          <a:p>
            <a:pPr>
              <a:defRPr sz="2000"/>
            </a:pPr>
            <a:r>
              <a:rPr sz="2000"/>
              <a:t>Separate stable instructions from runtime values</a:t>
            </a:r>
          </a:p>
          <a:p>
            <a:pPr>
              <a:defRPr sz="2000"/>
            </a:pPr>
            <a:r>
              <a:rPr sz="2000"/>
              <a:t>Validate that all required variables are provided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Python f-Strings as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An f-string inserts values into a string at runtime</a:t>
            </a:r>
          </a:p>
          <a:p>
            <a:pPr>
              <a:defRPr sz="2000"/>
            </a:pPr>
            <a:r>
              <a:rPr sz="2000"/>
              <a:t>A function can return a prompt built from parameters</a:t>
            </a:r>
          </a:p>
          <a:p>
            <a:pPr>
              <a:defRPr sz="2000"/>
            </a:pPr>
            <a:r>
              <a:rPr sz="2000"/>
              <a:t>Default arguments support common settings and optional overrides</a:t>
            </a:r>
          </a:p>
          <a:p>
            <a:pPr>
              <a:defRPr sz="2000"/>
            </a:pPr>
            <a:r>
              <a:rPr sz="2000"/>
              <a:t>Handle quotes, whitespace and user-provided text carefully</a:t>
            </a:r>
          </a:p>
          <a:p>
            <a:pPr>
              <a:defRPr sz="2000"/>
            </a:pPr>
            <a:r>
              <a:rPr sz="2000"/>
              <a:t>A small function may be enough for simple template needs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Before Session 2: What Is LangChain?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 err="1"/>
              <a:t>LangChain</a:t>
            </a:r>
            <a:r>
              <a:rPr sz="2000" dirty="0"/>
              <a:t> is a framework that helps developers build applications powered by language models by </a:t>
            </a:r>
            <a:r>
              <a:rPr sz="2000" dirty="0">
                <a:highlight>
                  <a:srgbClr val="FFFF00"/>
                </a:highlight>
              </a:rPr>
              <a:t>connecting reusable components</a:t>
            </a:r>
            <a:r>
              <a:rPr sz="2000" dirty="0"/>
              <a:t>.</a:t>
            </a:r>
          </a:p>
          <a:p>
            <a:pPr>
              <a:defRPr sz="2000"/>
            </a:pPr>
            <a:r>
              <a:rPr sz="2000" dirty="0"/>
              <a:t>It offers components for </a:t>
            </a:r>
            <a:r>
              <a:rPr sz="2000" dirty="0">
                <a:highlight>
                  <a:srgbClr val="FFFF00"/>
                </a:highlight>
              </a:rPr>
              <a:t>prompt templates</a:t>
            </a:r>
            <a:r>
              <a:rPr sz="2000" dirty="0"/>
              <a:t>, </a:t>
            </a:r>
            <a:r>
              <a:rPr sz="2000" dirty="0">
                <a:highlight>
                  <a:srgbClr val="FFFF00"/>
                </a:highlight>
              </a:rPr>
              <a:t>model integrations</a:t>
            </a:r>
            <a:r>
              <a:rPr sz="2000" dirty="0"/>
              <a:t>, </a:t>
            </a:r>
            <a:r>
              <a:rPr sz="2000" dirty="0">
                <a:highlight>
                  <a:srgbClr val="FFFF00"/>
                </a:highlight>
              </a:rPr>
              <a:t>output parsers</a:t>
            </a:r>
            <a:r>
              <a:rPr sz="2000" dirty="0"/>
              <a:t>, and composing multi-step workflows.</a:t>
            </a:r>
          </a:p>
          <a:p>
            <a:pPr>
              <a:defRPr sz="2000"/>
            </a:pPr>
            <a:r>
              <a:rPr sz="2000" dirty="0"/>
              <a:t>It does not replace the LLM: it organizes how an application prepares inputs, calls a model, and handles outputs.</a:t>
            </a:r>
          </a:p>
          <a:p>
            <a:pPr>
              <a:defRPr sz="2000"/>
            </a:pPr>
            <a:r>
              <a:rPr sz="2000" dirty="0"/>
              <a:t>Today it is introduced after plain Python prompts so its purpose can be compared with simpler approaches.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What Is a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 framework provides reusable structures and conventions for building a type of application.</a:t>
            </a:r>
          </a:p>
          <a:p>
            <a:pPr>
              <a:defRPr sz="2000"/>
            </a:pPr>
            <a:r>
              <a:rPr sz="2000"/>
              <a:t>Instead of writing every integration and workflow from scratch, developers assemble supported components and configure them.</a:t>
            </a:r>
          </a:p>
          <a:p>
            <a:pPr>
              <a:defRPr sz="2000"/>
            </a:pPr>
            <a:r>
              <a:rPr sz="2000"/>
              <a:t>A framework can reduce repeated work, but it adds concepts and dependencies; use it when its structure provides value.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Chat Messages and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 chat request can be represented as a sequence of messages, each with a role and content.</a:t>
            </a:r>
          </a:p>
          <a:p>
            <a:pPr>
              <a:defRPr sz="2000"/>
            </a:pPr>
            <a:r>
              <a:rPr sz="2000"/>
              <a:t>System messages describe the assistant’s intended behavior and constraints; user messages carry the request; assistant messages contain model replies.</a:t>
            </a:r>
          </a:p>
          <a:p>
            <a:pPr>
              <a:defRPr sz="2000"/>
            </a:pPr>
            <a:r>
              <a:rPr sz="2000"/>
              <a:t>Separating roles clarifies which content is instruction and which content is the user’s task.</a:t>
            </a:r>
          </a:p>
          <a:p>
            <a:pPr>
              <a:defRPr sz="2000"/>
            </a:pPr>
            <a:r>
              <a:rPr sz="2000"/>
              <a:t>Exact role support and instruction handling depend on the model interface.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PromptTemplate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 err="1"/>
              <a:t>PromptTemplate</a:t>
            </a:r>
            <a:r>
              <a:rPr sz="2000" dirty="0"/>
              <a:t> represents a reusable text prompt with named variables</a:t>
            </a:r>
          </a:p>
          <a:p>
            <a:pPr>
              <a:defRPr sz="2000"/>
            </a:pPr>
            <a:r>
              <a:rPr sz="2000" dirty="0"/>
              <a:t>Formatting fills placeholders with supplied values</a:t>
            </a:r>
          </a:p>
          <a:p>
            <a:pPr>
              <a:defRPr sz="2000"/>
            </a:pPr>
            <a:r>
              <a:rPr sz="2000" dirty="0"/>
              <a:t>Structured templates make required inputs explicit</a:t>
            </a:r>
          </a:p>
          <a:p>
            <a:pPr>
              <a:defRPr sz="2000"/>
            </a:pPr>
            <a:r>
              <a:rPr sz="2000" dirty="0"/>
              <a:t>Templates can be composed with model calls and parsers</a:t>
            </a:r>
          </a:p>
          <a:p>
            <a:pPr>
              <a:defRPr sz="2000"/>
            </a:pPr>
            <a:r>
              <a:rPr sz="2000" dirty="0"/>
              <a:t>Clear variable names improve maintenance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ChatPromptTemplate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Builds a sequence of role-specific messages</a:t>
            </a:r>
          </a:p>
          <a:p>
            <a:pPr>
              <a:defRPr sz="2000"/>
            </a:pPr>
            <a:r>
              <a:rPr sz="2000"/>
              <a:t>Can combine system instructions with the human request</a:t>
            </a:r>
          </a:p>
          <a:p>
            <a:pPr>
              <a:defRPr sz="2000"/>
            </a:pPr>
            <a:r>
              <a:rPr sz="2000"/>
              <a:t>Formatting supplies values for message placeholders</a:t>
            </a:r>
          </a:p>
          <a:p>
            <a:pPr>
              <a:defRPr sz="2000"/>
            </a:pPr>
            <a:r>
              <a:rPr sz="2000"/>
              <a:t>Role separation makes conversation structure explicit</a:t>
            </a:r>
          </a:p>
          <a:p>
            <a:pPr>
              <a:defRPr sz="2000"/>
            </a:pPr>
            <a:r>
              <a:rPr sz="2000"/>
              <a:t>The resulting messages can be passed to a compatible chat model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LangChain Models: Ollama and 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LangChain integrations provide model-specific adapters</a:t>
            </a:r>
          </a:p>
          <a:p>
            <a:pPr>
              <a:defRPr sz="2000"/>
            </a:pPr>
            <a:r>
              <a:rPr sz="2000"/>
              <a:t>Ollama connects to a locally available model</a:t>
            </a:r>
          </a:p>
          <a:p>
            <a:pPr>
              <a:defRPr sz="2000"/>
            </a:pPr>
            <a:r>
              <a:rPr sz="2000"/>
              <a:t>Gemini integration connects to Google’s hosted model service</a:t>
            </a:r>
          </a:p>
          <a:p>
            <a:pPr>
              <a:defRPr sz="2000"/>
            </a:pPr>
            <a:r>
              <a:rPr sz="2000"/>
              <a:t>Model configuration includes an identifier and supported settings</a:t>
            </a:r>
          </a:p>
          <a:p>
            <a:pPr>
              <a:defRPr sz="2000"/>
            </a:pPr>
            <a:r>
              <a:rPr sz="2000"/>
              <a:t>Check integration packages and capabilities against installed versions</a:t>
            </a:r>
          </a:p>
          <a:p>
            <a:pPr>
              <a:defRPr sz="2000"/>
            </a:pPr>
            <a:r>
              <a:rPr sz="2000"/>
              <a:t>A high-level chain can often be reused with another adapter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What Is a Pipeline or 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/>
              <a:t>A pipeline connects multiple processing steps so one step’s output becomes the next step’s input.</a:t>
            </a:r>
          </a:p>
          <a:p>
            <a:pPr>
              <a:defRPr sz="2000"/>
            </a:pPr>
            <a:r>
              <a:rPr sz="2000" dirty="0"/>
              <a:t>A language-model workflow may format a prompt, call a model, then parse the response.</a:t>
            </a:r>
          </a:p>
          <a:p>
            <a:pPr>
              <a:defRPr sz="2000"/>
            </a:pPr>
            <a:r>
              <a:rPr sz="2000" dirty="0" err="1"/>
              <a:t>LangChain</a:t>
            </a:r>
            <a:r>
              <a:rPr sz="2000" dirty="0"/>
              <a:t> can compose compatible components into a chain; its pipe notation expresses this sequence.</a:t>
            </a:r>
          </a:p>
          <a:p>
            <a:pPr>
              <a:defRPr sz="2000"/>
            </a:pPr>
            <a:r>
              <a:rPr sz="2000" dirty="0"/>
              <a:t>The key idea is the flow of data between components, not the symbol itself.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What Is LCEL?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 err="1"/>
              <a:t>LCEL</a:t>
            </a:r>
            <a:r>
              <a:rPr sz="2000" dirty="0"/>
              <a:t> stands for </a:t>
            </a:r>
            <a:r>
              <a:rPr sz="2000" dirty="0" err="1">
                <a:highlight>
                  <a:srgbClr val="FFFF00"/>
                </a:highlight>
              </a:rPr>
              <a:t>LangChain</a:t>
            </a:r>
            <a:r>
              <a:rPr sz="2000" dirty="0">
                <a:highlight>
                  <a:srgbClr val="FFFF00"/>
                </a:highlight>
              </a:rPr>
              <a:t> Expression Language</a:t>
            </a:r>
            <a:r>
              <a:rPr sz="2000" dirty="0"/>
              <a:t>, a way to compose </a:t>
            </a:r>
            <a:r>
              <a:rPr sz="2000" dirty="0" err="1"/>
              <a:t>LangChain</a:t>
            </a:r>
            <a:r>
              <a:rPr sz="2000" dirty="0"/>
              <a:t> components into runnable workflows.</a:t>
            </a:r>
          </a:p>
          <a:p>
            <a:pPr>
              <a:defRPr sz="2000"/>
            </a:pPr>
            <a:r>
              <a:rPr sz="2000" dirty="0"/>
              <a:t>The pipe operator connects compatible steps in sequence, such as prompt template → model → output parser.</a:t>
            </a:r>
          </a:p>
          <a:p>
            <a:pPr>
              <a:defRPr sz="2000"/>
            </a:pPr>
            <a:r>
              <a:rPr sz="2000" dirty="0"/>
              <a:t>Each component has an expected input and output shape, so compatibility matters.</a:t>
            </a:r>
          </a:p>
          <a:p>
            <a:pPr>
              <a:defRPr sz="2000"/>
            </a:pPr>
            <a:r>
              <a:rPr sz="2000" dirty="0"/>
              <a:t>Think of </a:t>
            </a:r>
            <a:r>
              <a:rPr sz="2000" dirty="0" err="1"/>
              <a:t>LCEL</a:t>
            </a:r>
            <a:r>
              <a:rPr sz="2000" dirty="0"/>
              <a:t> as a concise way to describe a pipeline, not as a separate AI model.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IN" sz="2800" dirty="0" err="1"/>
              <a:t>LangChain</a:t>
            </a:r>
            <a:r>
              <a:rPr lang="en-IN" sz="2800" dirty="0"/>
              <a:t> Expression Language (</a:t>
            </a:r>
            <a:r>
              <a:rPr dirty="0" err="1"/>
              <a:t>LCEL</a:t>
            </a:r>
            <a:r>
              <a:rPr lang="en-US" dirty="0"/>
              <a:t>)</a:t>
            </a:r>
            <a:r>
              <a:rPr dirty="0"/>
              <a:t> and the Pipe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 err="1"/>
              <a:t>LangChain</a:t>
            </a:r>
            <a:r>
              <a:rPr sz="2000" dirty="0"/>
              <a:t> Expression Language composes components into a pipeline</a:t>
            </a:r>
          </a:p>
          <a:p>
            <a:pPr>
              <a:defRPr sz="2000"/>
            </a:pPr>
            <a:r>
              <a:rPr sz="2000" dirty="0"/>
              <a:t>The pipe operator connects compatible steps in sequence</a:t>
            </a:r>
          </a:p>
          <a:p>
            <a:pPr>
              <a:defRPr sz="2000"/>
            </a:pPr>
            <a:r>
              <a:rPr sz="2000" dirty="0"/>
              <a:t>A common flow is prompt template → model → output parser</a:t>
            </a:r>
          </a:p>
          <a:p>
            <a:pPr>
              <a:defRPr sz="2000"/>
            </a:pPr>
            <a:r>
              <a:rPr sz="2000" dirty="0"/>
              <a:t>Each component receives the previous component’s output</a:t>
            </a:r>
          </a:p>
          <a:p>
            <a:pPr>
              <a:defRPr sz="2000"/>
            </a:pPr>
            <a:r>
              <a:rPr sz="2000" dirty="0"/>
              <a:t>Composition separates prompt construction, generation and output handling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Multi-Turn Conversations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 model call does not automatically guarantee memory of earlier independent calls</a:t>
            </a:r>
          </a:p>
          <a:p>
            <a:pPr>
              <a:defRPr sz="2000"/>
            </a:pPr>
            <a:r>
              <a:rPr sz="2000"/>
              <a:t>Conversation history can be supplied as a sequence of messages</a:t>
            </a:r>
          </a:p>
          <a:p>
            <a:pPr>
              <a:defRPr sz="2000"/>
            </a:pPr>
            <a:r>
              <a:rPr sz="2000"/>
              <a:t>Each turn adds a user message and the assistant response</a:t>
            </a:r>
          </a:p>
          <a:p>
            <a:pPr>
              <a:defRPr sz="2000"/>
            </a:pPr>
            <a:r>
              <a:rPr sz="2000"/>
              <a:t>Later calls can use the supplied history as context</a:t>
            </a:r>
          </a:p>
          <a:p>
            <a:pPr>
              <a:defRPr sz="2000"/>
            </a:pPr>
            <a:r>
              <a:rPr sz="2000"/>
              <a:t>Long histories increase token use and may need trimming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Managing Conversation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Keep only relevant messages to control context size</a:t>
            </a:r>
          </a:p>
          <a:p>
            <a:pPr>
              <a:defRPr sz="2000"/>
            </a:pPr>
            <a:r>
              <a:rPr sz="2000"/>
              <a:t>Preserve role order and distinguish user requests from assistant replies</a:t>
            </a:r>
          </a:p>
          <a:p>
            <a:pPr>
              <a:defRPr sz="2000"/>
            </a:pPr>
            <a:r>
              <a:rPr sz="2000"/>
              <a:t>Do not retain failed responses as if they were valid answers</a:t>
            </a:r>
          </a:p>
          <a:p>
            <a:pPr>
              <a:defRPr sz="2000"/>
            </a:pPr>
            <a:r>
              <a:rPr sz="2000"/>
              <a:t>Consider privacy before storing conversation content</a:t>
            </a:r>
          </a:p>
          <a:p>
            <a:pPr>
              <a:defRPr sz="2000"/>
            </a:pPr>
            <a:r>
              <a:rPr sz="2000"/>
              <a:t>Application memory is separate from model training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From Natural Language to Application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LLMs naturally produce text whose wording and structure may vary</a:t>
            </a:r>
          </a:p>
          <a:p>
            <a:pPr>
              <a:defRPr sz="2000"/>
            </a:pPr>
            <a:r>
              <a:rPr sz="2000"/>
              <a:t>Applications often need predictable fields for storage or routing</a:t>
            </a:r>
          </a:p>
          <a:p>
            <a:pPr>
              <a:defRPr sz="2000"/>
            </a:pPr>
            <a:r>
              <a:rPr sz="2000"/>
              <a:t>Free-form responses are difficult to parse reliably</a:t>
            </a:r>
          </a:p>
          <a:p>
            <a:pPr>
              <a:defRPr sz="2000"/>
            </a:pPr>
            <a:r>
              <a:rPr sz="2000"/>
              <a:t>Requesting a format helps, but the result still needs validation</a:t>
            </a:r>
          </a:p>
          <a:p>
            <a:pPr>
              <a:defRPr sz="2000"/>
            </a:pPr>
            <a:r>
              <a:rPr sz="2000"/>
              <a:t>Separate generation from parsing and business-rule checks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Before Session 3: What Is Structured Output?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/>
              <a:t>Free text can express the same information in many different ways, which makes it difficult for software to process reliably.</a:t>
            </a:r>
          </a:p>
          <a:p>
            <a:pPr>
              <a:defRPr sz="2000"/>
            </a:pPr>
            <a:r>
              <a:rPr sz="2000" dirty="0"/>
              <a:t>Structured output follows a defined format, such as JSON with named fields and predictable value types.</a:t>
            </a:r>
          </a:p>
          <a:p>
            <a:pPr>
              <a:defRPr sz="2000"/>
            </a:pPr>
            <a:r>
              <a:rPr sz="2000" dirty="0"/>
              <a:t>Parsing converts formatted text into application data; validation checks whether that data meets expected rules.</a:t>
            </a:r>
          </a:p>
          <a:p>
            <a:pPr>
              <a:defRPr sz="2000"/>
            </a:pPr>
            <a:r>
              <a:rPr sz="2000" dirty="0"/>
              <a:t>A response can be valid JSON and still contain incorrect, missing, or unsuitable values.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What Is JSON?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JSON is a text format for representing data using objects, arrays, strings, numbers, booleans, and null.</a:t>
            </a:r>
          </a:p>
          <a:p>
            <a:pPr>
              <a:defRPr sz="2000"/>
            </a:pPr>
            <a:r>
              <a:rPr sz="2000"/>
              <a:t>Objects contain key-value pairs; arrays contain ordered items.</a:t>
            </a:r>
          </a:p>
          <a:p>
            <a:pPr>
              <a:defRPr sz="2000"/>
            </a:pPr>
            <a:r>
              <a:rPr sz="2000"/>
              <a:t>Consistent field names and value types help applications exchange data.</a:t>
            </a:r>
          </a:p>
          <a:p>
            <a:pPr>
              <a:defRPr sz="2000"/>
            </a:pPr>
            <a:r>
              <a:rPr sz="2000"/>
              <a:t>Valid JSON syntax does not prove that the values are factually correct or acceptable for the application.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JSON as a Structured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JSON represents objects as key-value pairs and arrays as ordered collections</a:t>
            </a:r>
          </a:p>
          <a:p>
            <a:pPr>
              <a:defRPr sz="2000"/>
            </a:pPr>
            <a:r>
              <a:rPr sz="2000"/>
              <a:t>Define exact field names and expected value types</a:t>
            </a:r>
          </a:p>
          <a:p>
            <a:pPr>
              <a:defRPr sz="2000"/>
            </a:pPr>
            <a:r>
              <a:rPr sz="2000"/>
              <a:t>Ask for only the required JSON when using prompt-based formatting</a:t>
            </a:r>
          </a:p>
          <a:p>
            <a:pPr>
              <a:defRPr sz="2000"/>
            </a:pPr>
            <a:r>
              <a:rPr sz="2000"/>
              <a:t>JSON syntax requires valid quotes, commas and brackets</a:t>
            </a:r>
          </a:p>
          <a:p>
            <a:pPr>
              <a:defRPr sz="2000"/>
            </a:pPr>
            <a:r>
              <a:rPr sz="2000"/>
              <a:t>Valid JSON can still contain missing fields, wrong types or incorrect facts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Parsing JSON Safely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Parsing converts JSON text into native Python values</a:t>
            </a:r>
          </a:p>
          <a:p>
            <a:pPr>
              <a:defRPr sz="2000"/>
            </a:pPr>
            <a:r>
              <a:rPr sz="2000"/>
              <a:t>A JSON object typically becomes a dictionary and an array becomes a list</a:t>
            </a:r>
          </a:p>
          <a:p>
            <a:pPr>
              <a:defRPr sz="2000"/>
            </a:pPr>
            <a:r>
              <a:rPr sz="2000"/>
              <a:t>Handle invalid JSON explicitly</a:t>
            </a:r>
          </a:p>
          <a:p>
            <a:pPr>
              <a:defRPr sz="2000"/>
            </a:pPr>
            <a:r>
              <a:rPr sz="2000"/>
              <a:t>Check required keys and validate types and ranges</a:t>
            </a:r>
          </a:p>
          <a:p>
            <a:pPr>
              <a:defRPr sz="2000"/>
            </a:pPr>
            <a:r>
              <a:rPr sz="2000"/>
              <a:t>Syntactically valid output is not automatically correct or safe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Provider-Supported JSON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Some model APIs offer a structured or JSON response mode</a:t>
            </a:r>
          </a:p>
          <a:p>
            <a:pPr>
              <a:defRPr sz="2000"/>
            </a:pPr>
            <a:r>
              <a:rPr sz="2000"/>
              <a:t>These modes can improve conformance to JSON syntax when supported</a:t>
            </a:r>
          </a:p>
          <a:p>
            <a:pPr>
              <a:defRPr sz="2000"/>
            </a:pPr>
            <a:r>
              <a:rPr sz="2000"/>
              <a:t>Options vary by provider and model</a:t>
            </a:r>
          </a:p>
          <a:p>
            <a:pPr>
              <a:defRPr sz="2000"/>
            </a:pPr>
            <a:r>
              <a:rPr sz="2000"/>
              <a:t>Constrained output still needs schema and business validation</a:t>
            </a:r>
          </a:p>
          <a:p>
            <a:pPr>
              <a:defRPr sz="2000"/>
            </a:pPr>
            <a:r>
              <a:rPr sz="2000"/>
              <a:t>Confirm support in the selected API version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What Is an Output Parser?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An output parser converts a model response into a form that is easier for an application to consume.</a:t>
            </a:r>
          </a:p>
          <a:p>
            <a:pPr>
              <a:defRPr sz="2000"/>
            </a:pPr>
            <a:r>
              <a:rPr sz="2000"/>
              <a:t>A string parser returns plain text; a JSON parser produces data structures; a Pydantic parser creates a validated model instance.</a:t>
            </a:r>
          </a:p>
          <a:p>
            <a:pPr>
              <a:defRPr sz="2000"/>
            </a:pPr>
            <a:r>
              <a:rPr sz="2000"/>
              <a:t>Parsers can fail when the model output does not match the expected format.</a:t>
            </a:r>
          </a:p>
          <a:p>
            <a:pPr>
              <a:defRPr sz="2000"/>
            </a:pPr>
            <a:r>
              <a:rPr sz="2000"/>
              <a:t>A parser is not a fact-checker and does not replace application-level validation.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LangChain Output Parsers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Output parsers convert model responses into application-friendly values</a:t>
            </a:r>
          </a:p>
          <a:p>
            <a:pPr>
              <a:defRPr sz="2000"/>
            </a:pPr>
            <a:r>
              <a:rPr sz="2000"/>
              <a:t>StrOutputParser returns clean text as a string</a:t>
            </a:r>
          </a:p>
          <a:p>
            <a:pPr>
              <a:defRPr sz="2000"/>
            </a:pPr>
            <a:r>
              <a:rPr sz="2000"/>
              <a:t>JsonOutputParser converts JSON output into Python data structures</a:t>
            </a:r>
          </a:p>
          <a:p>
            <a:pPr>
              <a:defRPr sz="2000"/>
            </a:pPr>
            <a:r>
              <a:rPr sz="2000"/>
              <a:t>PydanticOutputParser maps output into a defined Pydantic model</a:t>
            </a:r>
          </a:p>
          <a:p>
            <a:pPr>
              <a:defRPr sz="2000"/>
            </a:pPr>
            <a:r>
              <a:rPr sz="2000"/>
              <a:t>Choose according to whether you need text, flexible data or validated fields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StrOutputParser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Use when the next step needs plain text</a:t>
            </a:r>
          </a:p>
          <a:p>
            <a:pPr>
              <a:defRPr sz="2000"/>
            </a:pPr>
            <a:r>
              <a:rPr sz="2000"/>
              <a:t>Extracts text content from a model response</a:t>
            </a:r>
          </a:p>
          <a:p>
            <a:pPr>
              <a:defRPr sz="2000"/>
            </a:pPr>
            <a:r>
              <a:rPr sz="2000"/>
              <a:t>Avoids handling a message wrapper when only text is needed</a:t>
            </a:r>
          </a:p>
          <a:p>
            <a:pPr>
              <a:defRPr sz="2000"/>
            </a:pPr>
            <a:r>
              <a:rPr sz="2000"/>
              <a:t>Does not validate factual accuracy or business rules</a:t>
            </a:r>
          </a:p>
          <a:p>
            <a:pPr>
              <a:defRPr sz="2000"/>
            </a:pPr>
            <a:r>
              <a:rPr sz="2000"/>
              <a:t>Typical uses include summaries and explanations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JsonOutputParser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Use when the application expects structured JSON-like data</a:t>
            </a:r>
          </a:p>
          <a:p>
            <a:pPr>
              <a:defRPr sz="2000"/>
            </a:pPr>
            <a:r>
              <a:rPr sz="2000"/>
              <a:t>The parsed result is commonly a Python dictionary or list</a:t>
            </a:r>
          </a:p>
          <a:p>
            <a:pPr>
              <a:defRPr sz="2000"/>
            </a:pPr>
            <a:r>
              <a:rPr sz="2000"/>
              <a:t>Prompt instructions should describe required keys and allowed values</a:t>
            </a:r>
          </a:p>
          <a:p>
            <a:pPr>
              <a:defRPr sz="2000"/>
            </a:pPr>
            <a:r>
              <a:rPr sz="2000"/>
              <a:t>Malformed output can still cause parsing errors</a:t>
            </a:r>
          </a:p>
          <a:p>
            <a:pPr>
              <a:defRPr sz="2000"/>
            </a:pPr>
            <a:r>
              <a:rPr sz="2000"/>
              <a:t>Validate required fields and value types after parsing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What Is Pydantic?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Pydantic is a Python library for defining data models with fields and type expectations, then validating data against them.</a:t>
            </a:r>
          </a:p>
          <a:p>
            <a:pPr>
              <a:defRPr sz="2000"/>
            </a:pPr>
            <a:r>
              <a:rPr sz="2000"/>
              <a:t>A model describes what data should look like; validation reports missing fields or incompatible values.</a:t>
            </a:r>
          </a:p>
          <a:p>
            <a:pPr>
              <a:defRPr sz="2000"/>
            </a:pPr>
            <a:r>
              <a:rPr sz="2000"/>
              <a:t>In this lesson, Pydantic is used to represent extracted contact information as a typed object.</a:t>
            </a:r>
          </a:p>
          <a:p>
            <a:pPr>
              <a:defRPr sz="2000"/>
            </a:pPr>
            <a:r>
              <a:rPr sz="2000"/>
              <a:t>Validation improves reliability, but domain-specific checks may still be needed.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Prerequisite: Parsing vs.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/>
              <a:t>Parsing checks whether output can be interpreted as a data structure and converts it into a usable value.</a:t>
            </a:r>
          </a:p>
          <a:p>
            <a:pPr>
              <a:defRPr sz="2000"/>
            </a:pPr>
            <a:r>
              <a:rPr sz="2000" dirty="0"/>
              <a:t>Validation checks whether the resulting data meets expectations, such as required fields, types, allowed values, or business rules.</a:t>
            </a:r>
          </a:p>
          <a:p>
            <a:pPr>
              <a:defRPr sz="2000"/>
            </a:pPr>
            <a:r>
              <a:rPr sz="2000" dirty="0"/>
              <a:t>Parsing and validation solve different problems and are often used together.</a:t>
            </a:r>
          </a:p>
          <a:p>
            <a:pPr>
              <a:defRPr sz="2000"/>
            </a:pPr>
            <a:r>
              <a:rPr sz="2000" dirty="0"/>
              <a:t>Always handle malformed output and validation errors deliberately.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Pydantic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 dirty="0"/>
              <a:t>Define fields and expected types for structured data</a:t>
            </a:r>
          </a:p>
          <a:p>
            <a:pPr>
              <a:defRPr sz="2000"/>
            </a:pPr>
            <a:r>
              <a:rPr sz="2000" dirty="0"/>
              <a:t>Fields can include descriptions and validation rules</a:t>
            </a:r>
          </a:p>
          <a:p>
            <a:pPr>
              <a:defRPr sz="2000"/>
            </a:pPr>
            <a:r>
              <a:rPr sz="2000" dirty="0"/>
              <a:t>Required fields and type constraints make expectations explicit</a:t>
            </a:r>
          </a:p>
          <a:p>
            <a:pPr>
              <a:defRPr sz="2000"/>
            </a:pPr>
            <a:r>
              <a:rPr sz="2000" dirty="0"/>
              <a:t>Validation errors identify missing or incompatible data</a:t>
            </a:r>
          </a:p>
          <a:p>
            <a:pPr>
              <a:defRPr sz="2000"/>
            </a:pPr>
            <a:r>
              <a:rPr sz="2000" dirty="0"/>
              <a:t>Custom validators can enforce domain-specific constraints</a:t>
            </a:r>
          </a:p>
          <a:p>
            <a:pPr>
              <a:defRPr sz="2000"/>
            </a:pPr>
            <a:r>
              <a:rPr sz="2000" dirty="0"/>
              <a:t>Validation cannot guarantee that extracted facts are true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Pydantic Output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Converts suitable model output into a typed model instance</a:t>
            </a:r>
          </a:p>
          <a:p>
            <a:pPr>
              <a:defRPr sz="2000"/>
            </a:pPr>
            <a:r>
              <a:rPr sz="2000"/>
              <a:t>Format instructions can communicate the expected schema to the model</a:t>
            </a:r>
          </a:p>
          <a:p>
            <a:pPr>
              <a:defRPr sz="2000"/>
            </a:pPr>
            <a:r>
              <a:rPr sz="2000"/>
              <a:t>Validated fields can be accessed as attributes</a:t>
            </a:r>
          </a:p>
          <a:p>
            <a:pPr>
              <a:defRPr sz="2000"/>
            </a:pPr>
            <a:r>
              <a:rPr sz="2000"/>
              <a:t>Handle parsing and validation errors deliberately</a:t>
            </a:r>
          </a:p>
          <a:p>
            <a:pPr>
              <a:defRPr sz="2000"/>
            </a:pPr>
            <a:r>
              <a:rPr sz="2000"/>
              <a:t>Apply domain checks for emails, allowed categories and other requirements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The Prompt-to-Data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  <a:defRPr sz="2000"/>
            </a:pPr>
            <a:r>
              <a:rPr sz="2000" dirty="0"/>
              <a:t>1. Receive user input</a:t>
            </a:r>
          </a:p>
          <a:p>
            <a:pPr marL="573088" indent="0">
              <a:buNone/>
              <a:defRPr sz="2000"/>
            </a:pPr>
            <a:r>
              <a:rPr sz="2000" dirty="0"/>
              <a:t>2. Fill a prompt template with context and instructions</a:t>
            </a:r>
          </a:p>
          <a:p>
            <a:pPr marL="573088" indent="0">
              <a:buNone/>
              <a:defRPr sz="2000"/>
            </a:pPr>
            <a:r>
              <a:rPr sz="2000" dirty="0"/>
              <a:t>3. Send formatted messages to the selected model</a:t>
            </a:r>
          </a:p>
          <a:p>
            <a:pPr marL="573088" indent="0">
              <a:buNone/>
              <a:defRPr sz="2000"/>
            </a:pPr>
            <a:r>
              <a:rPr sz="2000" dirty="0"/>
              <a:t>4. Parse the response into text or structured data</a:t>
            </a:r>
          </a:p>
          <a:p>
            <a:pPr marL="573088" indent="0">
              <a:buNone/>
              <a:defRPr sz="2000"/>
            </a:pPr>
            <a:r>
              <a:rPr sz="2000" dirty="0"/>
              <a:t>5. Validate fields and business rules</a:t>
            </a:r>
          </a:p>
          <a:p>
            <a:pPr marL="573088" indent="0">
              <a:buNone/>
              <a:defRPr sz="2000"/>
            </a:pPr>
            <a:r>
              <a:rPr sz="2000" dirty="0"/>
              <a:t>6. Pass only validated results to the application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Common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Vague prompts produce responses that are difficult to use</a:t>
            </a:r>
          </a:p>
          <a:p>
            <a:pPr>
              <a:defRPr sz="2000"/>
            </a:pPr>
            <a:r>
              <a:rPr sz="2000"/>
              <a:t>Inconsistent examples teach unclear patterns</a:t>
            </a:r>
          </a:p>
          <a:p>
            <a:pPr>
              <a:defRPr sz="2000"/>
            </a:pPr>
            <a:r>
              <a:rPr sz="2000"/>
              <a:t>Conversation history becomes too large or irrelevant</a:t>
            </a:r>
          </a:p>
          <a:p>
            <a:pPr>
              <a:defRPr sz="2000"/>
            </a:pPr>
            <a:r>
              <a:rPr sz="2000"/>
              <a:t>JSON may be malformed or omit required fields</a:t>
            </a:r>
          </a:p>
          <a:p>
            <a:pPr>
              <a:defRPr sz="2000"/>
            </a:pPr>
            <a:r>
              <a:rPr sz="2000"/>
              <a:t>Parsers fail when output differs from expectations</a:t>
            </a:r>
          </a:p>
          <a:p>
            <a:pPr>
              <a:defRPr sz="2000"/>
            </a:pPr>
            <a:r>
              <a:rPr sz="2000"/>
              <a:t>Use clear errors, bounded retries and safe fallbacks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Security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Treat user input and model output as untrusted data</a:t>
            </a:r>
          </a:p>
          <a:p>
            <a:pPr>
              <a:defRPr sz="2000"/>
            </a:pPr>
            <a:r>
              <a:rPr sz="2000"/>
              <a:t>Do not execute model-generated text as code without a secure design and review</a:t>
            </a:r>
          </a:p>
          <a:p>
            <a:pPr>
              <a:defRPr sz="2000"/>
            </a:pPr>
            <a:r>
              <a:rPr sz="2000"/>
              <a:t>Do not expose credentials or confidential instructions in logs</a:t>
            </a:r>
          </a:p>
          <a:p>
            <a:pPr>
              <a:defRPr sz="2000"/>
            </a:pPr>
            <a:r>
              <a:rPr sz="2000"/>
              <a:t>Use application-level authorization for protected operations</a:t>
            </a:r>
          </a:p>
          <a:p>
            <a:pPr>
              <a:defRPr sz="2000"/>
            </a:pPr>
            <a:r>
              <a:rPr sz="2000"/>
              <a:t>Validate fields before database writes or external actions</a:t>
            </a:r>
          </a:p>
          <a:p>
            <a:pPr>
              <a:defRPr sz="2000"/>
            </a:pPr>
            <a:r>
              <a:rPr sz="2000"/>
              <a:t>Monitor failures, token usage, latency and quality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Practical Design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Design a support assistant for a fictional phone company</a:t>
            </a:r>
          </a:p>
          <a:p>
            <a:pPr>
              <a:defRPr sz="2000"/>
            </a:pPr>
            <a:r>
              <a:rPr sz="2000"/>
              <a:t>Define a system prompt with tone, scope and escalation guidance</a:t>
            </a:r>
          </a:p>
          <a:p>
            <a:pPr>
              <a:defRPr sz="2000"/>
            </a:pPr>
            <a:r>
              <a:rPr sz="2000"/>
              <a:t>Create a reusable template for product, issue and customer message</a:t>
            </a:r>
          </a:p>
          <a:p>
            <a:pPr>
              <a:defRPr sz="2000"/>
            </a:pPr>
            <a:r>
              <a:rPr sz="2000"/>
              <a:t>Choose a prompting technique for classification or response generation</a:t>
            </a:r>
          </a:p>
          <a:p>
            <a:pPr>
              <a:defRPr sz="2000"/>
            </a:pPr>
            <a:r>
              <a:rPr sz="2000"/>
              <a:t>Specify a schema for customer name, email and intent</a:t>
            </a:r>
          </a:p>
          <a:p>
            <a:pPr>
              <a:defRPr sz="2000"/>
            </a:pPr>
            <a:r>
              <a:rPr sz="2000"/>
              <a:t>Plan handling for malformed output and missing fields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Day 2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Prompt design: task, audience, context, format and constraints</a:t>
            </a:r>
          </a:p>
          <a:p>
            <a:pPr>
              <a:defRPr sz="2000"/>
            </a:pPr>
            <a:r>
              <a:rPr sz="2000"/>
              <a:t>Techniques: zero-shot, few-shot, stepwise and role prompting</a:t>
            </a:r>
          </a:p>
          <a:p>
            <a:pPr>
              <a:defRPr sz="2000"/>
            </a:pPr>
            <a:r>
              <a:rPr sz="2000"/>
              <a:t>Message roles: system, user and assistant</a:t>
            </a:r>
          </a:p>
          <a:p>
            <a:pPr>
              <a:defRPr sz="2000"/>
            </a:pPr>
            <a:r>
              <a:rPr sz="2000"/>
              <a:t>Templates: reusable variables, ChatPromptTemplate and LCEL</a:t>
            </a:r>
          </a:p>
          <a:p>
            <a:pPr>
              <a:defRPr sz="2000"/>
            </a:pPr>
            <a:r>
              <a:rPr sz="2000"/>
              <a:t>Conversation history: supply relevant prior messages explicitly</a:t>
            </a:r>
          </a:p>
          <a:p>
            <a:pPr>
              <a:defRPr sz="2000"/>
            </a:pPr>
            <a:r>
              <a:rPr sz="2000"/>
              <a:t>Structured output: JSON parsing, LangChain parsers and Pydantic validation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Assessment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When is few-shot prompting useful?</a:t>
            </a:r>
          </a:p>
          <a:p>
            <a:pPr>
              <a:defRPr sz="2000"/>
            </a:pPr>
            <a:r>
              <a:rPr sz="2000"/>
              <a:t>How do system and user messages differ?</a:t>
            </a:r>
          </a:p>
          <a:p>
            <a:pPr>
              <a:defRPr sz="2000"/>
            </a:pPr>
            <a:r>
              <a:rPr sz="2000"/>
              <a:t>What does a formatted prompt template produce?</a:t>
            </a:r>
          </a:p>
          <a:p>
            <a:pPr>
              <a:defRPr sz="2000"/>
            </a:pPr>
            <a:r>
              <a:rPr sz="2000"/>
              <a:t>How does string parsing differ from JSON parsing?</a:t>
            </a:r>
          </a:p>
          <a:p>
            <a:pPr>
              <a:defRPr sz="2000"/>
            </a:pPr>
            <a:r>
              <a:rPr sz="2000"/>
              <a:t>What does schema validation add?</a:t>
            </a:r>
          </a:p>
          <a:p>
            <a:pPr>
              <a:defRPr sz="2000"/>
            </a:pPr>
            <a:r>
              <a:rPr sz="2000"/>
              <a:t>What is the purpose of a prompt → model → parser pipeline?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Preview: LangChain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sz="2000"/>
              <a:t>Use conversation memory to retain relevant context</a:t>
            </a:r>
          </a:p>
          <a:p>
            <a:pPr>
              <a:defRPr sz="2000"/>
            </a:pPr>
            <a:r>
              <a:rPr sz="2000"/>
              <a:t>Build a chat interface for user and assistant messages</a:t>
            </a:r>
          </a:p>
          <a:p>
            <a:pPr>
              <a:defRPr sz="2000"/>
            </a:pPr>
            <a:r>
              <a:rPr sz="2000"/>
              <a:t>Connect the interface to a local or cloud model</a:t>
            </a:r>
          </a:p>
          <a:p>
            <a:pPr>
              <a:defRPr sz="2000"/>
            </a:pPr>
            <a:r>
              <a:rPr sz="2000"/>
              <a:t>Manage errors and conversation state</a:t>
            </a:r>
          </a:p>
          <a:p>
            <a:pPr>
              <a:defRPr sz="2000"/>
            </a:pPr>
            <a:r>
              <a:rPr sz="2000"/>
              <a:t>Combine prompting, model invocation and output handling in an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Theme</Template>
  <TotalTime>311</TotalTime>
  <Words>5311</Words>
  <Application>Microsoft Office PowerPoint</Application>
  <PresentationFormat>Widescreen</PresentationFormat>
  <Paragraphs>394</Paragraphs>
  <Slides>60</Slides>
  <Notes>38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Calibri</vt:lpstr>
      <vt:lpstr>IBM Plex Sans</vt:lpstr>
      <vt:lpstr>Quicksand</vt:lpstr>
      <vt:lpstr>ABC Final Theme</vt:lpstr>
      <vt:lpstr>Day 2 — Prompt Engineering</vt:lpstr>
      <vt:lpstr>How Today’s Topics Fit Together</vt:lpstr>
      <vt:lpstr>Prerequisite: What Is a Large Language Model (LLM)?</vt:lpstr>
      <vt:lpstr>Prerequisite: What Is an API and a Client Library?</vt:lpstr>
      <vt:lpstr>Prerequisite: Local Inference vs. Cloud Inference</vt:lpstr>
      <vt:lpstr>Prerequisite: Tokens, Temperature, and Output Limits</vt:lpstr>
      <vt:lpstr>Learning Outcomes</vt:lpstr>
      <vt:lpstr>Day 2 at a Glance</vt:lpstr>
      <vt:lpstr>What Is Prompt Engineering?</vt:lpstr>
      <vt:lpstr>Anatomy of a Good Prompt</vt:lpstr>
      <vt:lpstr>Vague vs Specific Prompts</vt:lpstr>
      <vt:lpstr>Zero-Shot Prompting</vt:lpstr>
      <vt:lpstr>Zero-Shot: Strengths and Limits</vt:lpstr>
      <vt:lpstr>Few-Shot Prompting</vt:lpstr>
      <vt:lpstr>Designing Few-Shot Examples</vt:lpstr>
      <vt:lpstr>Stepwise / Chain-of-Thought Prompting</vt:lpstr>
      <vt:lpstr>Verify Reasoning</vt:lpstr>
      <vt:lpstr>Role Prompting</vt:lpstr>
      <vt:lpstr>Choosing a Prompting Technique</vt:lpstr>
      <vt:lpstr>Prompt Experiment</vt:lpstr>
      <vt:lpstr>Local Models and Cloud Models</vt:lpstr>
      <vt:lpstr>Model Settings and Prompt Quality</vt:lpstr>
      <vt:lpstr>Prerequisite: What Is a Prompt Template?</vt:lpstr>
      <vt:lpstr>System, User and Assistant Messages</vt:lpstr>
      <vt:lpstr>Writing a Useful System Prompt</vt:lpstr>
      <vt:lpstr>System Prompt Boundaries</vt:lpstr>
      <vt:lpstr>Reusable Prompt Templates</vt:lpstr>
      <vt:lpstr>Python f-Strings as Templates</vt:lpstr>
      <vt:lpstr>Before Session 2: What Is LangChain?</vt:lpstr>
      <vt:lpstr>Prerequisite: What Is a Framework?</vt:lpstr>
      <vt:lpstr>Prerequisite: Chat Messages and Roles</vt:lpstr>
      <vt:lpstr>LangChain PromptTemplate</vt:lpstr>
      <vt:lpstr>ChatPromptTemplate</vt:lpstr>
      <vt:lpstr>LangChain Models: Ollama and Gemini</vt:lpstr>
      <vt:lpstr>Prerequisite: What Is a Pipeline or Chain?</vt:lpstr>
      <vt:lpstr>Prerequisite: What Is LCEL?</vt:lpstr>
      <vt:lpstr>LangChain Expression Language (LCEL) and the Pipe Operator</vt:lpstr>
      <vt:lpstr>Multi-Turn Conversations</vt:lpstr>
      <vt:lpstr>Managing Conversation History</vt:lpstr>
      <vt:lpstr>From Natural Language to Application Data</vt:lpstr>
      <vt:lpstr>Before Session 3: What Is Structured Output?</vt:lpstr>
      <vt:lpstr>Prerequisite: What Is JSON?</vt:lpstr>
      <vt:lpstr>JSON as a Structured Format</vt:lpstr>
      <vt:lpstr>Parsing JSON Safely</vt:lpstr>
      <vt:lpstr>Provider-Supported JSON Modes</vt:lpstr>
      <vt:lpstr>Prerequisite: What Is an Output Parser?</vt:lpstr>
      <vt:lpstr>LangChain Output Parsers</vt:lpstr>
      <vt:lpstr>StrOutputParser</vt:lpstr>
      <vt:lpstr>JsonOutputParser</vt:lpstr>
      <vt:lpstr>Prerequisite: What Is Pydantic?</vt:lpstr>
      <vt:lpstr>Prerequisite: Parsing vs. Validation</vt:lpstr>
      <vt:lpstr>Pydantic Models</vt:lpstr>
      <vt:lpstr>Pydantic Output Parsing</vt:lpstr>
      <vt:lpstr>The Prompt-to-Data Pipeline</vt:lpstr>
      <vt:lpstr>Common Failure Modes</vt:lpstr>
      <vt:lpstr>Security and Reliability</vt:lpstr>
      <vt:lpstr>Practical Design Exercise</vt:lpstr>
      <vt:lpstr>Day 2 Recap</vt:lpstr>
      <vt:lpstr>Assessment Review</vt:lpstr>
      <vt:lpstr>Preview: LangChain Chatbot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8</cp:revision>
  <dcterms:created xsi:type="dcterms:W3CDTF">2013-01-27T09:14:16Z</dcterms:created>
  <dcterms:modified xsi:type="dcterms:W3CDTF">2026-10-14T09:08:44Z</dcterms:modified>
  <cp:category/>
</cp:coreProperties>
</file>