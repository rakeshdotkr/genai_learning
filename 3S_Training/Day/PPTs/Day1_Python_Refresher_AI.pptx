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874" y="36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56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891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713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69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52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730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679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742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637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524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1348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410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57732" y="3265809"/>
            <a:ext cx="7076536" cy="1026080"/>
          </a:xfrm>
        </p:spPr>
        <p:txBody>
          <a:bodyPr>
            <a:noAutofit/>
          </a:bodyPr>
          <a:lstStyle/>
          <a:p>
            <a:pPr>
              <a:defRPr sz="3000"/>
            </a:pPr>
            <a:r>
              <a:rPr sz="4400" dirty="0">
                <a:solidFill>
                  <a:schemeClr val="tx1"/>
                </a:solidFill>
              </a:rPr>
              <a:t>Day 1</a:t>
            </a:r>
            <a:r>
              <a:rPr sz="3200" dirty="0">
                <a:solidFill>
                  <a:schemeClr val="tx1"/>
                </a:solidFill>
              </a:rPr>
              <a:t> 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sz="3200" dirty="0">
                <a:solidFill>
                  <a:schemeClr val="tx1"/>
                </a:solidFill>
              </a:rPr>
              <a:t>Foundations: Python Refresher </a:t>
            </a:r>
            <a:r>
              <a:rPr lang="en-US" sz="3200" dirty="0">
                <a:solidFill>
                  <a:schemeClr val="tx1"/>
                </a:solidFill>
              </a:rPr>
              <a:t>&amp;</a:t>
            </a:r>
            <a:r>
              <a:rPr sz="3200" dirty="0">
                <a:solidFill>
                  <a:schemeClr val="tx1"/>
                </a:solidFill>
              </a:rPr>
              <a:t> AI Landscape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Set up a Python 3.13 project using venv, pip and .env</a:t>
            </a:r>
          </a:p>
          <a:p>
            <a:pPr>
              <a:defRPr sz="2200"/>
            </a:pPr>
            <a:r>
              <a:t>Use core Python features: data types, functions, comprehensions, OOP, file I/O and error handling</a:t>
            </a:r>
          </a:p>
          <a:p>
            <a:pPr>
              <a:defRPr sz="2200"/>
            </a:pPr>
            <a:r>
              <a:t>Explain LLMs, tokens, context windows and generation parameters</a:t>
            </a:r>
          </a:p>
          <a:p>
            <a:pPr>
              <a:defRPr sz="2200"/>
            </a:pPr>
            <a:r>
              <a:t>Make a Gemini API call and interpret its response</a:t>
            </a:r>
          </a:p>
          <a:p>
            <a:pPr>
              <a:defRPr sz="2200"/>
            </a:pPr>
            <a:r>
              <a:t>Compare Gemini’s native SDK with an OpenAI-compatible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Day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Session 1: Environment setup and Python refresher — Part 1</a:t>
            </a:r>
          </a:p>
          <a:p>
            <a:pPr>
              <a:defRPr sz="2200"/>
            </a:pPr>
            <a:r>
              <a:t>Session 2: Python refresher — Part 2 and file I/O</a:t>
            </a:r>
          </a:p>
          <a:p>
            <a:pPr>
              <a:defRPr sz="2200"/>
            </a:pPr>
            <a:r>
              <a:t>Session 3: Generative AI concepts, LLM parameters and first API call</a:t>
            </a:r>
          </a:p>
          <a:p>
            <a:pPr>
              <a:defRPr sz="2200"/>
            </a:pPr>
            <a:r>
              <a:t>End-of-day assessment: Python basics, API concepts, LLM terminology, tokens and parameters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Prepare the Development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 sz="2200"/>
            </a:pPr>
            <a:r>
              <a:t>Install Python 3.13+ and verify the version</a:t>
            </a:r>
          </a:p>
          <a:p>
            <a:pPr>
              <a:defRPr sz="2200"/>
            </a:pPr>
            <a:r>
              <a:t>Use VS Code with the Python and Pylance extensions</a:t>
            </a:r>
          </a:p>
          <a:p>
            <a:pPr>
              <a:defRPr sz="2200"/>
            </a:pPr>
            <a:r>
              <a:t>Create an isolated virtual environment for the workshop</a:t>
            </a:r>
          </a:p>
          <a:p>
            <a:pPr>
              <a:defRPr sz="2200"/>
            </a:pPr>
            <a:r>
              <a:t>Install required packages: google-generativeai, python-dotenv, requests and openai</a:t>
            </a:r>
          </a:p>
          <a:p>
            <a:pPr>
              <a:defRPr sz="2200"/>
            </a:pPr>
            <a:r>
              <a:t>Obtain a Gemini API key; an OpenAI API key is optional for comparison</a:t>
            </a:r>
          </a:p>
          <a:p>
            <a:pPr>
              <a:defRPr sz="2200"/>
            </a:pPr>
            <a:r>
              <a:t>Keep sample files such as faqs.json and students.csv available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Verify Python and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Confirm the active Python version is 3.13 or later</a:t>
            </a:r>
          </a:p>
          <a:p>
            <a:pPr>
              <a:defRPr sz="2200"/>
            </a:pPr>
            <a:r>
              <a:t>Check pip using the active interpreter: python -m pip --version</a:t>
            </a:r>
          </a:p>
          <a:p>
            <a:pPr>
              <a:defRPr sz="2200"/>
            </a:pPr>
            <a:r>
              <a:t>Verify required packages are installed in the active environment</a:t>
            </a:r>
          </a:p>
          <a:p>
            <a:pPr>
              <a:defRPr sz="2200"/>
            </a:pPr>
            <a:r>
              <a:t>Confirm VS Code is available; opening it manually is acceptable</a:t>
            </a:r>
          </a:p>
          <a:p>
            <a:pPr>
              <a:defRPr sz="2200"/>
            </a:pPr>
            <a:r>
              <a:t>Resolve environment issues before beginning API demonstrations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Common Environment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 not found: add Python to PATH or use python3 / py -3.13</a:t>
            </a:r>
          </a:p>
          <a:p>
            <a:pPr>
              <a:defRPr sz="2200"/>
            </a:pPr>
            <a:r>
              <a:t>Wrong Python version: explicitly select Python 3.13</a:t>
            </a:r>
          </a:p>
          <a:p>
            <a:pPr>
              <a:defRPr sz="2200"/>
            </a:pPr>
            <a:r>
              <a:t>pip missing: run python -m ensurepip --upgrade</a:t>
            </a:r>
          </a:p>
          <a:p>
            <a:pPr>
              <a:defRPr sz="2200"/>
            </a:pPr>
            <a:r>
              <a:t>Package missing: install it in the active virtual environment</a:t>
            </a:r>
          </a:p>
          <a:p>
            <a:pPr>
              <a:defRPr sz="2200"/>
            </a:pPr>
            <a:r>
              <a:t>Permission errors: activate the venv rather than installing globally</a:t>
            </a:r>
          </a:p>
          <a:p>
            <a:pPr>
              <a:defRPr sz="2200"/>
            </a:pPr>
            <a:r>
              <a:t>Package imports fail after installation: check which Python received the package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Python Variables and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 sz="2200"/>
            </a:pPr>
            <a:r>
              <a:t>Python is dynamically typed: the value has a type, not the variable name</a:t>
            </a:r>
          </a:p>
          <a:p>
            <a:pPr>
              <a:defRPr sz="2200"/>
            </a:pPr>
            <a:r>
              <a:t>Common types: str, int, float, bool and None</a:t>
            </a:r>
          </a:p>
          <a:p>
            <a:pPr>
              <a:defRPr sz="2200"/>
            </a:pPr>
            <a:r>
              <a:t>Use numeric values for numeric API parameters; for example, 0.7 is a float, while "0.7" is a string</a:t>
            </a:r>
          </a:p>
          <a:p>
            <a:pPr>
              <a:defRPr sz="2200"/>
            </a:pPr>
            <a:r>
              <a:t>Type hints document expected types and help tools such as Pylance detect mistakes</a:t>
            </a:r>
          </a:p>
          <a:p>
            <a:pPr>
              <a:defRPr sz="2200"/>
            </a:pPr>
            <a:r>
              <a:t>Python 3.10+ supports union hints such as str | None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Strings and f-Strings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Strings are immutable sequences of Unicode characters</a:t>
            </a:r>
          </a:p>
          <a:p>
            <a:pPr>
              <a:defRPr sz="2200"/>
            </a:pPr>
            <a:r>
              <a:t>Prefer f-strings for readable formatting and prompt construction</a:t>
            </a:r>
          </a:p>
          <a:p>
            <a:pPr>
              <a:defRPr sz="2200"/>
            </a:pPr>
            <a:r>
              <a:t>Use format specifiers such as :.2f to control numeric output</a:t>
            </a:r>
          </a:p>
          <a:p>
            <a:pPr>
              <a:defRPr sz="2200"/>
            </a:pPr>
            <a:r>
              <a:t>f-strings can evaluate expressions and access dictionary values</a:t>
            </a:r>
          </a:p>
          <a:p>
            <a:pPr>
              <a:defRPr sz="2200"/>
            </a:pPr>
            <a:r>
              <a:t>Triple-quoted f-strings are useful for multi-line prompts</a:t>
            </a:r>
          </a:p>
          <a:p>
            <a:pPr>
              <a:defRPr sz="2200"/>
            </a:pPr>
            <a:r>
              <a:t>Use raw strings for regular expressions and Windows paths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String Operations for Text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strip(): remove leading and trailing whitespace</a:t>
            </a:r>
          </a:p>
          <a:p>
            <a:pPr>
              <a:defRPr sz="2200"/>
            </a:pPr>
            <a:r>
              <a:t>lower() / upper(): normalize text for comparison or display</a:t>
            </a:r>
          </a:p>
          <a:p>
            <a:pPr>
              <a:defRPr sz="2200"/>
            </a:pPr>
            <a:r>
              <a:t>replace(): substitute text; split(): divide text into a list</a:t>
            </a:r>
          </a:p>
          <a:p>
            <a:pPr>
              <a:defRPr sz="2200"/>
            </a:pPr>
            <a:r>
              <a:t>join(): combine strings using a separator</a:t>
            </a:r>
          </a:p>
          <a:p>
            <a:pPr>
              <a:defRPr sz="2200"/>
            </a:pPr>
            <a:r>
              <a:t>startswith() / endswith(): check prefixes and suffixes</a:t>
            </a:r>
          </a:p>
          <a:p>
            <a:pPr>
              <a:defRPr sz="2200"/>
            </a:pPr>
            <a:r>
              <a:t>splitlines(): separate multi-line text across common newline formats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Lists in GenAI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 sz="2200"/>
            </a:pPr>
            <a:r>
              <a:t>Lists are ordered, mutable sequences that can hold mixed types</a:t>
            </a:r>
          </a:p>
          <a:p>
            <a:pPr>
              <a:defRPr sz="2200"/>
            </a:pPr>
            <a:r>
              <a:t>Common uses: chat history, document chunks, batches of prompts and token sequences</a:t>
            </a:r>
          </a:p>
          <a:p>
            <a:pPr>
              <a:defRPr sz="2200"/>
            </a:pPr>
            <a:r>
              <a:t>Use indexing and slicing to access messages and recent conversation history</a:t>
            </a:r>
          </a:p>
          <a:p>
            <a:pPr>
              <a:defRPr sz="2200"/>
            </a:pPr>
            <a:r>
              <a:t>append() adds an item; pop() removes an item</a:t>
            </a:r>
          </a:p>
          <a:p>
            <a:pPr>
              <a:defRPr sz="2200"/>
            </a:pPr>
            <a:r>
              <a:t>Comprehensions can filter and transform chunks before retrieval or prompting</a:t>
            </a:r>
          </a:p>
          <a:p>
            <a:pPr>
              <a:defRPr sz="2200"/>
            </a:pPr>
            <a:r>
              <a:t>Use copy() for a shallow copy and deepcopy() for independent nested structures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Dictionaries and API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 sz="2200"/>
            </a:pPr>
            <a:r>
              <a:t>Dictionaries map keys to values and are common in configurations and API responses</a:t>
            </a:r>
          </a:p>
          <a:p>
            <a:pPr>
              <a:defRPr sz="2200"/>
            </a:pPr>
            <a:r>
              <a:t>Use config[key] when the key must exist; use get(key, default) for safe lookup</a:t>
            </a:r>
          </a:p>
          <a:p>
            <a:pPr>
              <a:defRPr sz="2200"/>
            </a:pPr>
            <a:r>
              <a:t>Update configuration values by assigning keys; remove values with pop() or del</a:t>
            </a:r>
          </a:p>
          <a:p>
            <a:pPr>
              <a:defRPr sz="2200"/>
            </a:pPr>
            <a:r>
              <a:t>Python 3.9+ supports dictionary merging with the | operator</a:t>
            </a:r>
          </a:p>
          <a:p>
            <a:pPr>
              <a:defRPr sz="2200"/>
            </a:pPr>
            <a:r>
              <a:t>API responses often contain nested dictionaries and lists</a:t>
            </a:r>
          </a:p>
          <a:p>
            <a:pPr>
              <a:defRPr sz="2200"/>
            </a:pPr>
            <a:r>
              <a:t>Use safe defaults when navigating optional nested response fields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Truthiness and Guard Clauses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Falsy values include None, False, 0, 0.0, empty strings, lists and dictionaries</a:t>
            </a:r>
          </a:p>
          <a:p>
            <a:pPr>
              <a:defRPr sz="2200"/>
            </a:pPr>
            <a:r>
              <a:t>Guard clauses validate inputs before expensive work</a:t>
            </a:r>
          </a:p>
          <a:p>
            <a:pPr>
              <a:defRPr sz="2200"/>
            </a:pPr>
            <a:r>
              <a:t>Check that prompts contain meaningful text, not only whitespace</a:t>
            </a:r>
          </a:p>
          <a:p>
            <a:pPr>
              <a:defRPr sz="2200"/>
            </a:pPr>
            <a:r>
              <a:t>Validate that an API key is configured before making a request</a:t>
            </a:r>
          </a:p>
          <a:p>
            <a:pPr>
              <a:defRPr sz="2200"/>
            </a:pPr>
            <a:r>
              <a:t>Fail early with a clear message rather than allowing confusing downstream errors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Functions and Type Hints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Functions package logic into reusable units</a:t>
            </a:r>
          </a:p>
          <a:p>
            <a:pPr>
              <a:defRPr sz="2200"/>
            </a:pPr>
            <a:r>
              <a:t>Use descriptive parameter names, default values and return types</a:t>
            </a:r>
          </a:p>
          <a:p>
            <a:pPr>
              <a:defRPr sz="2200"/>
            </a:pPr>
            <a:r>
              <a:t>Positional arguments follow parameter order; keyword arguments make intent explicit</a:t>
            </a:r>
          </a:p>
          <a:p>
            <a:pPr>
              <a:defRPr sz="2200"/>
            </a:pPr>
            <a:r>
              <a:t>Docstrings explain a function’s purpose, inputs and outputs</a:t>
            </a:r>
          </a:p>
          <a:p>
            <a:pPr>
              <a:defRPr sz="2200"/>
            </a:pPr>
            <a:r>
              <a:t>Return None explicitly when a result may be absent</a:t>
            </a:r>
          </a:p>
          <a:p>
            <a:pPr>
              <a:defRPr sz="2200"/>
            </a:pPr>
            <a:r>
              <a:t>Modern Python supports generic function type parameters (PEP 695)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*args and **kwargs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 sz="2200"/>
            </a:pPr>
            <a:r>
              <a:t>*args collects additional positional arguments into a tuple</a:t>
            </a:r>
          </a:p>
          <a:p>
            <a:pPr>
              <a:defRPr sz="2200"/>
            </a:pPr>
            <a:r>
              <a:t>**kwargs collects additional keyword arguments into a dictionary</a:t>
            </a:r>
          </a:p>
          <a:p>
            <a:pPr>
              <a:defRPr sz="2200"/>
            </a:pPr>
            <a:r>
              <a:t>Use * to unpack a list into positional arguments</a:t>
            </a:r>
          </a:p>
          <a:p>
            <a:pPr>
              <a:defRPr sz="2200"/>
            </a:pPr>
            <a:r>
              <a:t>Use **kwargs to configure flexible calls and pass generation options to SDKs</a:t>
            </a:r>
          </a:p>
          <a:p>
            <a:pPr>
              <a:defRPr sz="2200"/>
            </a:pPr>
            <a:r>
              <a:t>Merge defaults with caller overrides so explicit settings take precedence</a:t>
            </a:r>
          </a:p>
          <a:p>
            <a:pPr>
              <a:defRPr sz="2200"/>
            </a:pPr>
            <a:r>
              <a:t>Keep flexible interfaces understandable; do not accept options that the function cannot support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Comprehensions and Generators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2200"/>
            </a:pPr>
            <a:r>
              <a:t>List comprehensions transform and filter data concisely</a:t>
            </a:r>
          </a:p>
          <a:p>
            <a:pPr>
              <a:defRPr sz="2200"/>
            </a:pPr>
            <a:r>
              <a:t>Dictionary comprehensions build mappings from existing data</a:t>
            </a:r>
          </a:p>
          <a:p>
            <a:pPr>
              <a:defRPr sz="2200"/>
            </a:pPr>
            <a:r>
              <a:t>Common uses: clean text, extract fields, filter relevant chunks and build prompt batches</a:t>
            </a:r>
          </a:p>
          <a:p>
            <a:pPr>
              <a:defRPr sz="2200"/>
            </a:pPr>
            <a:r>
              <a:t>Use is not None when removing unset values so valid values such as 0 and False are preserved</a:t>
            </a:r>
          </a:p>
          <a:p>
            <a:pPr>
              <a:defRPr sz="2200"/>
            </a:pPr>
            <a:r>
              <a:t>Generator expressions produce values lazily and avoid creating an intermediate list</a:t>
            </a:r>
          </a:p>
          <a:p>
            <a:pPr>
              <a:defRPr sz="2200"/>
            </a:pPr>
            <a:r>
              <a:t>Prefer readability over deeply nested comprehensions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Virtual Environments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venv isolates a project’s Python packages from other projects</a:t>
            </a:r>
          </a:p>
          <a:p>
            <a:pPr>
              <a:defRPr sz="2200"/>
            </a:pPr>
            <a:r>
              <a:t>It contains an interpreter reference, pip, site-packages and activation scripts</a:t>
            </a:r>
          </a:p>
          <a:p>
            <a:pPr>
              <a:defRPr sz="2200"/>
            </a:pPr>
            <a:r>
              <a:t>Create a project folder and a .venv environment</a:t>
            </a:r>
          </a:p>
          <a:p>
            <a:pPr>
              <a:defRPr sz="2200"/>
            </a:pPr>
            <a:r>
              <a:t>Activate the environment before installing packages</a:t>
            </a:r>
          </a:p>
          <a:p>
            <a:pPr>
              <a:defRPr sz="2200"/>
            </a:pPr>
            <a:r>
              <a:t>Verify the active interpreter and Python version</a:t>
            </a:r>
          </a:p>
          <a:p>
            <a:pPr>
              <a:defRPr sz="2200"/>
            </a:pPr>
            <a:r>
              <a:t>Deactivate the environment when finished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pip and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 sz="2200"/>
            </a:pPr>
            <a:r>
              <a:t>Install, upgrade and uninstall packages with pip</a:t>
            </a:r>
          </a:p>
          <a:p>
            <a:pPr>
              <a:defRPr sz="2200"/>
            </a:pPr>
            <a:r>
              <a:t>Install a consistent package set from requirements.txt</a:t>
            </a:r>
          </a:p>
          <a:p>
            <a:pPr>
              <a:defRPr sz="2200"/>
            </a:pPr>
            <a:r>
              <a:t>pip list provides a readable inventory; pip freeze produces package==version entries</a:t>
            </a:r>
          </a:p>
          <a:p>
            <a:pPr>
              <a:defRPr sz="2200"/>
            </a:pPr>
            <a:r>
              <a:t>Pin versions when repeatable environments are important</a:t>
            </a:r>
          </a:p>
          <a:p>
            <a:pPr>
              <a:defRPr sz="2200"/>
            </a:pPr>
            <a:r>
              <a:t>Package installation names may differ from Python import names</a:t>
            </a:r>
          </a:p>
          <a:p>
            <a:pPr>
              <a:defRPr sz="2200"/>
            </a:pPr>
            <a:r>
              <a:t>Examples: python-dotenv is imported as dotenv; pillow is imported as PIL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Environment Variables and .env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 sz="2200"/>
            </a:pPr>
            <a:r>
              <a:t>Environment variables provide configuration outside source code</a:t>
            </a:r>
          </a:p>
          <a:p>
            <a:pPr>
              <a:defRPr sz="2200"/>
            </a:pPr>
            <a:r>
              <a:t>Use python-dotenv to load local settings from a .env file</a:t>
            </a:r>
          </a:p>
          <a:p>
            <a:pPr>
              <a:defRPr sz="2200"/>
            </a:pPr>
            <a:r>
              <a:t>Read values with os.getenv() and convert strings to the required types</a:t>
            </a:r>
          </a:p>
          <a:p>
            <a:pPr>
              <a:defRPr sz="2200"/>
            </a:pPr>
            <a:r>
              <a:t>Use .env for local development settings and secrets</a:t>
            </a:r>
          </a:p>
          <a:p>
            <a:pPr>
              <a:defRPr sz="2200"/>
            </a:pPr>
            <a:r>
              <a:t>Add .env and virtual-environment folders to .gitignore</a:t>
            </a:r>
          </a:p>
          <a:p>
            <a:pPr>
              <a:defRPr sz="2200"/>
            </a:pPr>
            <a:r>
              <a:t>Never hardcode, share or commit API keys; rotate a key immediately if exposed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Mini-Challenge: Mask an API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Load a practice API key from .env</a:t>
            </a:r>
          </a:p>
          <a:p>
            <a:pPr>
              <a:defRPr sz="2200"/>
            </a:pPr>
            <a:r>
              <a:t>Validate that the key exists and is long enough to mask</a:t>
            </a:r>
          </a:p>
          <a:p>
            <a:pPr>
              <a:defRPr sz="2200"/>
            </a:pPr>
            <a:r>
              <a:t>Display only a short prefix and suffix; replace the middle with asterisks</a:t>
            </a:r>
          </a:p>
          <a:p>
            <a:pPr>
              <a:defRPr sz="2200"/>
            </a:pPr>
            <a:r>
              <a:t>Use string slicing, guard clauses, f-strings and type hints</a:t>
            </a:r>
          </a:p>
          <a:p>
            <a:pPr>
              <a:defRPr sz="2200"/>
            </a:pPr>
            <a:r>
              <a:t>Do not print or share the complete secret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OOP: Classes and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 sz="2200"/>
            </a:pPr>
            <a:r>
              <a:t>A class defines structure and behavior; an instance is an object created from it</a:t>
            </a:r>
          </a:p>
          <a:p>
            <a:pPr>
              <a:defRPr sz="2200"/>
            </a:pPr>
            <a:r>
              <a:t>__init__ initializes instance attributes</a:t>
            </a:r>
          </a:p>
          <a:p>
            <a:pPr>
              <a:defRPr sz="2200"/>
            </a:pPr>
            <a:r>
              <a:t>self refers to the current instance</a:t>
            </a:r>
          </a:p>
          <a:p>
            <a:pPr>
              <a:defRPr sz="2200"/>
            </a:pPr>
            <a:r>
              <a:t>Class attributes are shared defaults; instance attributes hold per-object state</a:t>
            </a:r>
          </a:p>
          <a:p>
            <a:pPr>
              <a:defRPr sz="2200"/>
            </a:pPr>
            <a:r>
              <a:t>Methods operate on instances; class methods can provide alternative constructors</a:t>
            </a:r>
          </a:p>
          <a:p>
            <a:pPr>
              <a:defRPr sz="2200"/>
            </a:pPr>
            <a:r>
              <a:t>Simple wrapper classes can make SDK configuration and calls easier to manage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OOP: Inheritance and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 sz="2200"/>
            </a:pPr>
            <a:r>
              <a:t>Inheritance allows a class to extend a base class</a:t>
            </a:r>
          </a:p>
          <a:p>
            <a:pPr>
              <a:defRPr sz="2200"/>
            </a:pPr>
            <a:r>
              <a:t>Abstract base classes define methods that subclasses must implement</a:t>
            </a:r>
          </a:p>
          <a:p>
            <a:pPr>
              <a:defRPr sz="2200"/>
            </a:pPr>
            <a:r>
              <a:t>Polymorphism lets different implementations share the same interface</a:t>
            </a:r>
          </a:p>
          <a:p>
            <a:pPr>
              <a:defRPr sz="2200"/>
            </a:pPr>
            <a:r>
              <a:t>A Gemini-backed model and a mock model can expose the same invoke() method</a:t>
            </a:r>
          </a:p>
          <a:p>
            <a:pPr>
              <a:defRPr sz="2200"/>
            </a:pPr>
            <a:r>
              <a:t>Understand object construction, method calls and attributes to read SDK and LangChain code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Properties and Object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@property exposes a method through attribute-style access</a:t>
            </a:r>
          </a:p>
          <a:p>
            <a:pPr>
              <a:defRPr sz="2200"/>
            </a:pPr>
            <a:r>
              <a:t>Use properties for computed values or controlled access to internal state</a:t>
            </a:r>
          </a:p>
          <a:p>
            <a:pPr>
              <a:defRPr sz="2200"/>
            </a:pPr>
            <a:r>
              <a:t>__repr__ provides a developer-oriented representation useful for debugging</a:t>
            </a:r>
          </a:p>
          <a:p>
            <a:pPr>
              <a:defRPr sz="2200"/>
            </a:pPr>
            <a:r>
              <a:t>__str__ aims for a readable display representation</a:t>
            </a:r>
          </a:p>
          <a:p>
            <a:pPr>
              <a:defRPr sz="2200"/>
            </a:pPr>
            <a:r>
              <a:t>Keep object behavior simple and predictable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Working with Text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 with open(...) to ensure files are closed correctly</a:t>
            </a:r>
          </a:p>
          <a:p>
            <a:pPr>
              <a:defRPr sz="2200"/>
            </a:pPr>
            <a:r>
              <a:t>Choose an explicit encoding such as UTF-8</a:t>
            </a:r>
          </a:p>
          <a:p>
            <a:pPr>
              <a:defRPr sz="2200"/>
            </a:pPr>
            <a:r>
              <a:t>Read all content for small files; iterate line by line for larger files</a:t>
            </a:r>
          </a:p>
          <a:p>
            <a:pPr>
              <a:defRPr sz="2200"/>
            </a:pPr>
            <a:r>
              <a:t>Use append mode when adding to an existing file</a:t>
            </a:r>
          </a:p>
          <a:p>
            <a:pPr>
              <a:defRPr sz="2200"/>
            </a:pPr>
            <a:r>
              <a:t>Use pathlib for clearer path handling across operating systems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Working with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JSON represents objects, arrays, strings, numbers, booleans and null</a:t>
            </a:r>
          </a:p>
          <a:p>
            <a:pPr>
              <a:defRPr sz="2200"/>
            </a:pPr>
            <a:r>
              <a:t>Python dict maps to a JSON object; list maps to an array</a:t>
            </a:r>
          </a:p>
          <a:p>
            <a:pPr>
              <a:defRPr sz="2200"/>
            </a:pPr>
            <a:r>
              <a:t>Use json.dump() / json.load() for file I/O</a:t>
            </a:r>
          </a:p>
          <a:p>
            <a:pPr>
              <a:defRPr sz="2200"/>
            </a:pPr>
            <a:r>
              <a:t>Use json.dumps() / json.loads() for JSON strings</a:t>
            </a:r>
          </a:p>
          <a:p>
            <a:pPr>
              <a:defRPr sz="2200"/>
            </a:pPr>
            <a:r>
              <a:t>Validate and handle JSONDecodeError when parsing model-generated output</a:t>
            </a:r>
          </a:p>
          <a:p>
            <a:pPr>
              <a:defRPr sz="2200"/>
            </a:pPr>
            <a:r>
              <a:t>Treat external or model-generated JSON as untrusted input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Working with 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 csv.DictWriter to write rows using field names</a:t>
            </a:r>
          </a:p>
          <a:p>
            <a:pPr>
              <a:defRPr sz="2200"/>
            </a:pPr>
            <a:r>
              <a:t>Use csv.DictReader to read rows as dictionaries</a:t>
            </a:r>
          </a:p>
          <a:p>
            <a:pPr>
              <a:defRPr sz="2200"/>
            </a:pPr>
            <a:r>
              <a:t>CSV does not preserve data types: values are initially strings</a:t>
            </a:r>
          </a:p>
          <a:p>
            <a:pPr>
              <a:defRPr sz="2200"/>
            </a:pPr>
            <a:r>
              <a:t>Convert numeric and Boolean fields explicitly after reading</a:t>
            </a:r>
          </a:p>
          <a:p>
            <a:pPr>
              <a:defRPr sz="2200"/>
            </a:pPr>
            <a:r>
              <a:t>Filter and sort records after conversion</a:t>
            </a:r>
          </a:p>
          <a:p>
            <a:pPr>
              <a:defRPr sz="2200"/>
            </a:pPr>
            <a:r>
              <a:t>Use newline="" when opening CSV files for writing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Calling REST APIs with requests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HTTP methods include GET for retrieval and POST for submitting data</a:t>
            </a:r>
          </a:p>
          <a:p>
            <a:pPr>
              <a:defRPr sz="2200"/>
            </a:pPr>
            <a:r>
              <a:t>Use requests.get() or requests.post() with a timeout</a:t>
            </a:r>
          </a:p>
          <a:p>
            <a:pPr>
              <a:defRPr sz="2200"/>
            </a:pPr>
            <a:r>
              <a:t>Send authentication using the mechanism required by the API</a:t>
            </a:r>
          </a:p>
          <a:p>
            <a:pPr>
              <a:defRPr sz="2200"/>
            </a:pPr>
            <a:r>
              <a:t>Call response.raise_for_status() to surface HTTP errors</a:t>
            </a:r>
          </a:p>
          <a:p>
            <a:pPr>
              <a:defRPr sz="2200"/>
            </a:pPr>
            <a:r>
              <a:t>Parse JSON responses and inspect status codes and response fields</a:t>
            </a:r>
          </a:p>
          <a:p>
            <a:pPr>
              <a:defRPr sz="2200"/>
            </a:pPr>
            <a:r>
              <a:t>Never expose API keys in logs, screenshots or shared code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200"/>
            </a:pPr>
            <a:r>
              <a:t>Use try/except to handle expected failures and provide meaningful messages</a:t>
            </a:r>
          </a:p>
          <a:p>
            <a:pPr>
              <a:defRPr sz="2200"/>
            </a:pPr>
            <a:r>
              <a:t>Catch specific exception types before broader ones</a:t>
            </a:r>
          </a:p>
          <a:p>
            <a:pPr>
              <a:defRPr sz="2200"/>
            </a:pPr>
            <a:r>
              <a:t>Validate configuration and input before making API calls</a:t>
            </a:r>
          </a:p>
          <a:p>
            <a:pPr>
              <a:defRPr sz="2200"/>
            </a:pPr>
            <a:r>
              <a:t>Use bounded retries for transient failures; avoid retrying indefinitely</a:t>
            </a:r>
          </a:p>
          <a:p>
            <a:pPr>
              <a:defRPr sz="2200"/>
            </a:pPr>
            <a:r>
              <a:t>Use finally for cleanup when needed; context managers handle common file cleanup</a:t>
            </a:r>
          </a:p>
          <a:p>
            <a:pPr>
              <a:defRPr sz="2200"/>
            </a:pPr>
            <a:r>
              <a:t>Custom exception classes can communicate application-specific errors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Mini-Challenge: Filter FAQ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 sz="2200"/>
            </a:pPr>
            <a:r>
              <a:t>Read FAQ records from a JSON file</a:t>
            </a:r>
          </a:p>
          <a:p>
            <a:pPr>
              <a:defRPr sz="2200"/>
            </a:pPr>
            <a:r>
              <a:t>Validate and clean input records</a:t>
            </a:r>
          </a:p>
          <a:p>
            <a:pPr>
              <a:defRPr sz="2200"/>
            </a:pPr>
            <a:r>
              <a:t>Filter records using a condition such as minimum answer length or matching category</a:t>
            </a:r>
          </a:p>
          <a:p>
            <a:pPr>
              <a:defRPr sz="2200"/>
            </a:pPr>
            <a:r>
              <a:t>Use functions and comprehensions to keep the processing pipeline readable</a:t>
            </a:r>
          </a:p>
          <a:p>
            <a:pPr>
              <a:defRPr sz="2200"/>
            </a:pPr>
            <a:r>
              <a:t>Write the filtered results to a new JSON file</a:t>
            </a:r>
          </a:p>
          <a:p>
            <a:pPr>
              <a:defRPr sz="2200"/>
            </a:pPr>
            <a:r>
              <a:t>Handle missing files and invalid JSON with clear messages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Putting Python Skills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Load configuration and API credentials from .env</a:t>
            </a:r>
          </a:p>
          <a:p>
            <a:pPr>
              <a:defRPr sz="2200"/>
            </a:pPr>
            <a:r>
              <a:t>Read topics or records from JSON</a:t>
            </a:r>
          </a:p>
          <a:p>
            <a:pPr>
              <a:defRPr sz="2200"/>
            </a:pPr>
            <a:r>
              <a:t>Build prompts with f-strings</a:t>
            </a:r>
          </a:p>
          <a:p>
            <a:pPr>
              <a:defRPr sz="2200"/>
            </a:pPr>
            <a:r>
              <a:t>Call the model through a small reusable function</a:t>
            </a:r>
          </a:p>
          <a:p>
            <a:pPr>
              <a:defRPr sz="2200"/>
            </a:pPr>
            <a:r>
              <a:t>Handle errors and preserve useful response information</a:t>
            </a:r>
          </a:p>
          <a:p>
            <a:pPr>
              <a:defRPr sz="2200"/>
            </a:pPr>
            <a:r>
              <a:t>Save generated results to JSON and print a concise summary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AI, Machine Learning, Deep Learning and GenAI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 sz="2200"/>
            </a:pPr>
            <a:r>
              <a:t>Artificial Intelligence is the broad field of building systems that perform intelligent tasks</a:t>
            </a:r>
          </a:p>
          <a:p>
            <a:pPr>
              <a:defRPr sz="2200"/>
            </a:pPr>
            <a:r>
              <a:t>Machine Learning uses data to learn patterns rather than relying only on explicit rules</a:t>
            </a:r>
          </a:p>
          <a:p>
            <a:pPr>
              <a:defRPr sz="2200"/>
            </a:pPr>
            <a:r>
              <a:t>Deep Learning uses multi-layer neural networks</a:t>
            </a:r>
          </a:p>
          <a:p>
            <a:pPr>
              <a:defRPr sz="2200"/>
            </a:pPr>
            <a:r>
              <a:t>Generative AI creates new content such as text, images, audio or code</a:t>
            </a:r>
          </a:p>
          <a:p>
            <a:pPr>
              <a:defRPr sz="2200"/>
            </a:pPr>
            <a:r>
              <a:t>Large Language Models are neural networks trained to model language and generate token sequences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What an LLM Does — and Does Not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 sz="2200"/>
            </a:pPr>
            <a:r>
              <a:t>An LLM generates a likely continuation based on learned patterns and the supplied context</a:t>
            </a:r>
          </a:p>
          <a:p>
            <a:pPr>
              <a:defRPr sz="2200"/>
            </a:pPr>
            <a:r>
              <a:t>It processes text as tokens rather than understanding text exactly as humans do</a:t>
            </a:r>
          </a:p>
          <a:p>
            <a:pPr>
              <a:defRPr sz="2200"/>
            </a:pPr>
            <a:r>
              <a:t>Outputs can be fluent but incorrect, incomplete or outdated</a:t>
            </a:r>
          </a:p>
          <a:p>
            <a:pPr>
              <a:defRPr sz="2200"/>
            </a:pPr>
            <a:r>
              <a:t>An LLM is not automatically a database, search engine or guaranteed source of truth</a:t>
            </a:r>
          </a:p>
          <a:p>
            <a:pPr>
              <a:defRPr sz="2200"/>
            </a:pPr>
            <a:r>
              <a:t>Grounding, validation and appropriate system design improve reliability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Tokens and Tokenization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Tokens are units of text processed by a model; they may be words, word parts or punctuation</a:t>
            </a:r>
          </a:p>
          <a:p>
            <a:pPr>
              <a:defRPr sz="2200"/>
            </a:pPr>
            <a:r>
              <a:t>Token counts are not the same as word counts or character counts</a:t>
            </a:r>
          </a:p>
          <a:p>
            <a:pPr>
              <a:defRPr sz="2200"/>
            </a:pPr>
            <a:r>
              <a:t>Prompt tokens and generated tokens both contribute to usage</a:t>
            </a:r>
          </a:p>
          <a:p>
            <a:pPr>
              <a:defRPr sz="2200"/>
            </a:pPr>
            <a:r>
              <a:t>Tokenization varies by model and language</a:t>
            </a:r>
          </a:p>
          <a:p>
            <a:pPr>
              <a:defRPr sz="2200"/>
            </a:pPr>
            <a:r>
              <a:t>Estimate token usage when managing context limits, response size and cost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The Context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 sz="2200"/>
            </a:pPr>
            <a:r>
              <a:t>The context window is the amount of input and output a model can handle in one request</a:t>
            </a:r>
          </a:p>
          <a:p>
            <a:pPr>
              <a:defRPr sz="2200"/>
            </a:pPr>
            <a:r>
              <a:t>It may include instructions, user input, conversation history, retrieved documents and output</a:t>
            </a:r>
          </a:p>
          <a:p>
            <a:pPr>
              <a:defRPr sz="2200"/>
            </a:pPr>
            <a:r>
              <a:t>Large contexts do not guarantee that every detail will be used correctly</a:t>
            </a:r>
          </a:p>
          <a:p>
            <a:pPr>
              <a:defRPr sz="2200"/>
            </a:pPr>
            <a:r>
              <a:t>Trim irrelevant history and retrieve only useful supporting content</a:t>
            </a:r>
          </a:p>
          <a:p>
            <a:pPr>
              <a:defRPr sz="2200"/>
            </a:pPr>
            <a:r>
              <a:t>Leave room for the model’s response within the context budget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Temperature and Output Variability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 sz="2200"/>
            </a:pPr>
            <a:r>
              <a:t>Temperature influences randomness in token selection</a:t>
            </a:r>
          </a:p>
          <a:p>
            <a:pPr>
              <a:defRPr sz="2200"/>
            </a:pPr>
            <a:r>
              <a:t>Lower values generally produce more predictable outputs; higher values allow more variation</a:t>
            </a:r>
          </a:p>
          <a:p>
            <a:pPr>
              <a:defRPr sz="2200"/>
            </a:pPr>
            <a:r>
              <a:t>Use lower temperature for extraction, classification and constrained responses</a:t>
            </a:r>
          </a:p>
          <a:p>
            <a:pPr>
              <a:defRPr sz="2200"/>
            </a:pPr>
            <a:r>
              <a:t>Use higher temperature for brainstorming and creative writing</a:t>
            </a:r>
          </a:p>
          <a:p>
            <a:pPr>
              <a:defRPr sz="2200"/>
            </a:pPr>
            <a:r>
              <a:t>Temperature does not guarantee factual accuracy or make an answer deterministic in every system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top_p, top_k and Output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 sz="2200"/>
            </a:pPr>
            <a:r>
              <a:t>top_p uses nucleus sampling to limit candidates to a cumulative probability threshold</a:t>
            </a:r>
          </a:p>
          <a:p>
            <a:pPr>
              <a:defRPr sz="2200"/>
            </a:pPr>
            <a:r>
              <a:t>top_k restricts sampling to the k most probable token candidates</a:t>
            </a:r>
          </a:p>
          <a:p>
            <a:pPr>
              <a:defRPr sz="2200"/>
            </a:pPr>
            <a:r>
              <a:t>Temperature, top_p and top_k influence generation in different ways</a:t>
            </a:r>
          </a:p>
          <a:p>
            <a:pPr>
              <a:defRPr sz="2200"/>
            </a:pPr>
            <a:r>
              <a:t>max_output_tokens limits how long a response can be</a:t>
            </a:r>
          </a:p>
          <a:p>
            <a:pPr>
              <a:defRPr sz="2200"/>
            </a:pPr>
            <a:r>
              <a:t>Parameter support and exact behavior can vary by model and API</a:t>
            </a:r>
          </a:p>
          <a:p>
            <a:pPr>
              <a:defRPr sz="2200"/>
            </a:pPr>
            <a:r>
              <a:t>Change one parameter at a time when comparing results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Get a Gemini API Key and Install the SDK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Create a Gemini API key through Google AI Studio</a:t>
            </a:r>
          </a:p>
          <a:p>
            <a:pPr>
              <a:defRPr sz="2200"/>
            </a:pPr>
            <a:r>
              <a:t>Activate the project’s virtual environment</a:t>
            </a:r>
          </a:p>
          <a:p>
            <a:pPr>
              <a:defRPr sz="2200"/>
            </a:pPr>
            <a:r>
              <a:t>Install the SDK and python-dotenv package</a:t>
            </a:r>
          </a:p>
          <a:p>
            <a:pPr>
              <a:defRPr sz="2200"/>
            </a:pPr>
            <a:r>
              <a:t>Store the key in .env as GEMINI_API_KEY</a:t>
            </a:r>
          </a:p>
          <a:p>
            <a:pPr>
              <a:defRPr sz="2200"/>
            </a:pPr>
            <a:r>
              <a:t>Load the environment variable before configuring the SDK</a:t>
            </a:r>
          </a:p>
          <a:p>
            <a:pPr>
              <a:defRPr sz="2200"/>
            </a:pPr>
            <a:r>
              <a:t>Keep credentials private and use a fallback demo if the API is unavailable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First Gemini API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Load .env and retrieve GEMINI_API_KEY</a:t>
            </a:r>
          </a:p>
          <a:p>
            <a:pPr>
              <a:defRPr sz="2200"/>
            </a:pPr>
            <a:r>
              <a:t>Configure the Gemini SDK with the key</a:t>
            </a:r>
          </a:p>
          <a:p>
            <a:pPr>
              <a:defRPr sz="2200"/>
            </a:pPr>
            <a:r>
              <a:t>Create a model instance using a supported model name</a:t>
            </a:r>
          </a:p>
          <a:p>
            <a:pPr>
              <a:defRPr sz="2200"/>
            </a:pPr>
            <a:r>
              <a:t>Call generate_content() with a prompt</a:t>
            </a:r>
          </a:p>
          <a:p>
            <a:pPr>
              <a:defRPr sz="2200"/>
            </a:pPr>
            <a:r>
              <a:t>Read response.text for the primary text result</a:t>
            </a:r>
          </a:p>
          <a:p>
            <a:pPr>
              <a:defRPr sz="2200"/>
            </a:pPr>
            <a:r>
              <a:t>Handle missing keys, request errors, safety blocks and response limits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Understanding a Gemini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 sz="2200"/>
            </a:pPr>
            <a:r>
              <a:t>Inspect the generated text and candidate information</a:t>
            </a:r>
          </a:p>
          <a:p>
            <a:pPr>
              <a:defRPr sz="2200"/>
            </a:pPr>
            <a:r>
              <a:t>Finish reasons can indicate normal completion, output limit or safety blocking</a:t>
            </a:r>
          </a:p>
          <a:p>
            <a:pPr>
              <a:defRPr sz="2200"/>
            </a:pPr>
            <a:r>
              <a:t>Usage metadata can report prompt and output token counts</a:t>
            </a:r>
          </a:p>
          <a:p>
            <a:pPr>
              <a:defRPr sz="2200"/>
            </a:pPr>
            <a:r>
              <a:t>Prompt feedback can provide information about input safety handling</a:t>
            </a:r>
          </a:p>
          <a:p>
            <a:pPr>
              <a:defRPr sz="2200"/>
            </a:pPr>
            <a:r>
              <a:t>Do not assume every response contains text; inspect the result before using it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Generation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temperature controls output variability</a:t>
            </a:r>
          </a:p>
          <a:p>
            <a:pPr>
              <a:defRPr sz="2200"/>
            </a:pPr>
            <a:r>
              <a:t>max_output_tokens limits the response length</a:t>
            </a:r>
          </a:p>
          <a:p>
            <a:pPr>
              <a:defRPr sz="2200"/>
            </a:pPr>
            <a:r>
              <a:t>top_p and top_k influence candidate-token sampling</a:t>
            </a:r>
          </a:p>
          <a:p>
            <a:pPr>
              <a:defRPr sz="2200"/>
            </a:pPr>
            <a:r>
              <a:t>Stop sequences can stop generation when configured and supported</a:t>
            </a:r>
          </a:p>
          <a:p>
            <a:pPr>
              <a:defRPr sz="2200"/>
            </a:pPr>
            <a:r>
              <a:t>Safety settings influence which content categories are blocked</a:t>
            </a:r>
          </a:p>
          <a:p>
            <a:pPr>
              <a:defRPr sz="2200"/>
            </a:pPr>
            <a:r>
              <a:t>Start with defaults and change settings only to meet a clear requirement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Streaming and JSON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 sz="2200"/>
            </a:pPr>
            <a:r>
              <a:t>Streaming returns response chunks as they arrive instead of waiting for the full result</a:t>
            </a:r>
          </a:p>
          <a:p>
            <a:pPr>
              <a:defRPr sz="2200"/>
            </a:pPr>
            <a:r>
              <a:t>Streaming can improve perceived responsiveness for interactive applications</a:t>
            </a:r>
          </a:p>
          <a:p>
            <a:pPr>
              <a:defRPr sz="2200"/>
            </a:pPr>
            <a:r>
              <a:t>JSON mode can help produce structured output when supported by the model</a:t>
            </a:r>
          </a:p>
          <a:p>
            <a:pPr>
              <a:defRPr sz="2200"/>
            </a:pPr>
            <a:r>
              <a:t>Still validate JSON syntax, required keys and value types</a:t>
            </a:r>
          </a:p>
          <a:p>
            <a:pPr>
              <a:defRPr sz="2200"/>
            </a:pPr>
            <a:r>
              <a:t>Model output should be treated as data to validate, not code to execute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Gemini Native SDK vs OpenAI-Compatible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2200"/>
            </a:pPr>
            <a:r>
              <a:t>The Gemini native SDK uses Google’s own client and response conventions</a:t>
            </a:r>
          </a:p>
          <a:p>
            <a:pPr>
              <a:defRPr sz="2200"/>
            </a:pPr>
            <a:r>
              <a:t>An OpenAI-compatible interface allows some clients to target a compatible endpoint</a:t>
            </a:r>
          </a:p>
          <a:p>
            <a:pPr>
              <a:defRPr sz="2200"/>
            </a:pPr>
            <a:r>
              <a:t>Compatibility can reduce code changes, but does not mean every feature behaves identically</a:t>
            </a:r>
          </a:p>
          <a:p>
            <a:pPr>
              <a:defRPr sz="2200"/>
            </a:pPr>
            <a:r>
              <a:t>Model names, endpoints, authentication and supported parameters must match the provider</a:t>
            </a:r>
          </a:p>
          <a:p>
            <a:pPr>
              <a:defRPr sz="2200"/>
            </a:pPr>
            <a:r>
              <a:t>Use the native SDK for provider-specific capabilities; use compatibility when it fits the integration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Observe Temperature Across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Run the same prompt at several temperature values</a:t>
            </a:r>
          </a:p>
          <a:p>
            <a:pPr>
              <a:defRPr sz="2200"/>
            </a:pPr>
            <a:r>
              <a:t>Compare factual extraction, short explanation and creative writing tasks</a:t>
            </a:r>
          </a:p>
          <a:p>
            <a:pPr>
              <a:defRPr sz="2200"/>
            </a:pPr>
            <a:r>
              <a:t>Record differences in wording, consistency and output length</a:t>
            </a:r>
          </a:p>
          <a:p>
            <a:pPr>
              <a:defRPr sz="2200"/>
            </a:pPr>
            <a:r>
              <a:t>Keep other settings fixed so the comparison is meaningful</a:t>
            </a:r>
          </a:p>
          <a:p>
            <a:pPr>
              <a:defRPr sz="2200"/>
            </a:pPr>
            <a:r>
              <a:t>Discuss where predictability matters more than variety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Responsible API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Keep API keys out of source control and shared messages</a:t>
            </a:r>
          </a:p>
          <a:p>
            <a:pPr>
              <a:defRPr sz="2200"/>
            </a:pPr>
            <a:r>
              <a:t>Set appropriate output limits to control cost and response size</a:t>
            </a:r>
          </a:p>
          <a:p>
            <a:pPr>
              <a:defRPr sz="2200"/>
            </a:pPr>
            <a:r>
              <a:t>Handle rate limits, timeouts and transient failures gracefully</a:t>
            </a:r>
          </a:p>
          <a:p>
            <a:pPr>
              <a:defRPr sz="2200"/>
            </a:pPr>
            <a:r>
              <a:t>Validate generated content before using it in downstream workflows</a:t>
            </a:r>
          </a:p>
          <a:p>
            <a:pPr>
              <a:defRPr sz="2200"/>
            </a:pPr>
            <a:r>
              <a:t>Follow provider policies and apply safety checks appropriate to the application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Day 1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 setup: interpreter, venv, pip, requirements and .env</a:t>
            </a:r>
          </a:p>
          <a:p>
            <a:pPr>
              <a:defRPr sz="2200"/>
            </a:pPr>
            <a:r>
              <a:t>Python essentials: types, strings, collections, functions and comprehensions</a:t>
            </a:r>
          </a:p>
          <a:p>
            <a:pPr>
              <a:defRPr sz="2200"/>
            </a:pPr>
            <a:r>
              <a:t>OOP basics, file I/O, REST requests and error handling</a:t>
            </a:r>
          </a:p>
          <a:p>
            <a:pPr>
              <a:defRPr sz="2200"/>
            </a:pPr>
            <a:r>
              <a:t>LLM foundations: tokens, context windows and generation behavior</a:t>
            </a:r>
          </a:p>
          <a:p>
            <a:pPr>
              <a:defRPr sz="2200"/>
            </a:pPr>
            <a:r>
              <a:t>Gemini API: credentials, request flow, response inspection and configuration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Assessment Focus and Day 2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Assessment focus: Python fundamentals, environment management and API basics</a:t>
            </a:r>
          </a:p>
          <a:p>
            <a:pPr>
              <a:defRPr sz="2200"/>
            </a:pPr>
            <a:r>
              <a:t>Know the difference between tokens, context window and output-token limit</a:t>
            </a:r>
          </a:p>
          <a:p>
            <a:pPr>
              <a:defRPr sz="2200"/>
            </a:pPr>
            <a:r>
              <a:t>Explain temperature, top_p and top_k at a conceptual level</a:t>
            </a:r>
          </a:p>
          <a:p>
            <a:pPr>
              <a:defRPr sz="2200"/>
            </a:pPr>
            <a:r>
              <a:t>Describe the steps required for a first Gemini API call</a:t>
            </a:r>
          </a:p>
          <a:p>
            <a:pPr>
              <a:defRPr sz="2200"/>
            </a:pPr>
            <a:r>
              <a:t>Day 2 preview: prompt engineering and improving model instructions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Common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 sz="2200"/>
            </a:pPr>
            <a:r>
              <a:t>Why use a virtual environment? To isolate project dependencies</a:t>
            </a:r>
          </a:p>
          <a:p>
            <a:pPr>
              <a:defRPr sz="2200"/>
            </a:pPr>
            <a:r>
              <a:t>Why keep keys in .env? To separate secrets from source code</a:t>
            </a:r>
          </a:p>
          <a:p>
            <a:pPr>
              <a:defRPr sz="2200"/>
            </a:pPr>
            <a:r>
              <a:t>Why can an LLM response be wrong? Generation is probabilistic and can produce unsupported claims</a:t>
            </a:r>
          </a:p>
          <a:p>
            <a:pPr>
              <a:defRPr sz="2200"/>
            </a:pPr>
            <a:r>
              <a:t>Why validate JSON output? The model may return malformed or incomplete structures</a:t>
            </a:r>
          </a:p>
          <a:p>
            <a:pPr>
              <a:defRPr sz="2200"/>
            </a:pPr>
            <a:r>
              <a:t>Does a higher temperature make an answer more accurate? No; it generally increases variation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Final Theme</Template>
  <TotalTime>5</TotalTime>
  <Words>2811</Words>
  <Application>Microsoft Office PowerPoint</Application>
  <PresentationFormat>Widescreen</PresentationFormat>
  <Paragraphs>293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IBM Plex Sans</vt:lpstr>
      <vt:lpstr>Quicksand</vt:lpstr>
      <vt:lpstr>ABC Final Theme</vt:lpstr>
      <vt:lpstr>Day 1  Foundations: Python Refresher &amp; AI Landscape</vt:lpstr>
      <vt:lpstr>Learning Outcomes</vt:lpstr>
      <vt:lpstr>Day Structure</vt:lpstr>
      <vt:lpstr>Prepare the Development Environment</vt:lpstr>
      <vt:lpstr>Verify Python and Packages</vt:lpstr>
      <vt:lpstr>Common Environment Problems</vt:lpstr>
      <vt:lpstr>Python Variables and Types</vt:lpstr>
      <vt:lpstr>Strings and f-Strings</vt:lpstr>
      <vt:lpstr>String Operations for Text Processing</vt:lpstr>
      <vt:lpstr>Lists in GenAI Applications</vt:lpstr>
      <vt:lpstr>Dictionaries and API Data</vt:lpstr>
      <vt:lpstr>Truthiness and Guard Clauses</vt:lpstr>
      <vt:lpstr>Functions and Type Hints</vt:lpstr>
      <vt:lpstr>*args and **kwargs</vt:lpstr>
      <vt:lpstr>Comprehensions and Generators</vt:lpstr>
      <vt:lpstr>Virtual Environments</vt:lpstr>
      <vt:lpstr>pip and Requirements</vt:lpstr>
      <vt:lpstr>Environment Variables and .env</vt:lpstr>
      <vt:lpstr>Mini-Challenge: Mask an API Key</vt:lpstr>
      <vt:lpstr>OOP: Classes and Objects</vt:lpstr>
      <vt:lpstr>OOP: Inheritance and Polymorphism</vt:lpstr>
      <vt:lpstr>Properties and Object Representation</vt:lpstr>
      <vt:lpstr>Working with Text Files</vt:lpstr>
      <vt:lpstr>Working with JSON</vt:lpstr>
      <vt:lpstr>Working with CSV</vt:lpstr>
      <vt:lpstr>Calling REST APIs with requests</vt:lpstr>
      <vt:lpstr>Error Handling</vt:lpstr>
      <vt:lpstr>Mini-Challenge: Filter FAQ Data</vt:lpstr>
      <vt:lpstr>Putting Python Skills Together</vt:lpstr>
      <vt:lpstr>AI, Machine Learning, Deep Learning and GenAI</vt:lpstr>
      <vt:lpstr>What an LLM Does — and Does Not Do</vt:lpstr>
      <vt:lpstr>Tokens and Tokenization</vt:lpstr>
      <vt:lpstr>The Context Window</vt:lpstr>
      <vt:lpstr>Temperature and Output Variability</vt:lpstr>
      <vt:lpstr>top_p, top_k and Output Limits</vt:lpstr>
      <vt:lpstr>Get a Gemini API Key and Install the SDK</vt:lpstr>
      <vt:lpstr>First Gemini API Call</vt:lpstr>
      <vt:lpstr>Understanding a Gemini Response</vt:lpstr>
      <vt:lpstr>Generation Configuration</vt:lpstr>
      <vt:lpstr>Streaming and JSON Output</vt:lpstr>
      <vt:lpstr>Gemini Native SDK vs OpenAI-Compatible Interface</vt:lpstr>
      <vt:lpstr>Observe Temperature Across Prompts</vt:lpstr>
      <vt:lpstr>Responsible API Use</vt:lpstr>
      <vt:lpstr>Day 1 Recap</vt:lpstr>
      <vt:lpstr>Assessment Focus and Day 2 Preview</vt:lpstr>
      <vt:lpstr>Common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Rakesh Kr</cp:lastModifiedBy>
  <cp:revision>5</cp:revision>
  <dcterms:created xsi:type="dcterms:W3CDTF">2013-01-27T09:14:16Z</dcterms:created>
  <dcterms:modified xsi:type="dcterms:W3CDTF">2026-10-11T15:22:19Z</dcterms:modified>
  <cp:category/>
</cp:coreProperties>
</file>