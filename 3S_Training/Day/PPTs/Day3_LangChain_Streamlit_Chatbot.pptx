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80" autoAdjust="0"/>
    <p:restoredTop sz="94660"/>
  </p:normalViewPr>
  <p:slideViewPr>
    <p:cSldViewPr snapToGrid="0" snapToObjects="1">
      <p:cViewPr varScale="1">
        <p:scale>
          <a:sx n="89" d="100"/>
          <a:sy n="89" d="100"/>
        </p:scale>
        <p:origin x="298" y="7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theme" Target="theme/theme1.xml"/><Relationship Id="rId20" Type="http://schemas.openxmlformats.org/officeDocument/2006/relationships/slide" Target="slides/slide19.xml"/><Relationship Id="rId41" Type="http://schemas.openxmlformats.org/officeDocument/2006/relationships/slide" Target="slides/slide40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0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4836996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marL="0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163704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442041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9" y="1845734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062560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02717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0799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274587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374952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264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3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524476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285061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4778"/>
            <a:ext cx="2628900" cy="575742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4778"/>
            <a:ext cx="7734300" cy="5757422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783700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9" name="Rectangle 8"/>
          <p:cNvSpPr/>
          <p:nvPr/>
        </p:nvSpPr>
        <p:spPr>
          <a:xfrm>
            <a:off x="0" y="6334316"/>
            <a:ext cx="12192001" cy="659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9397928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20040"/>
            <a:ext cx="1115568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500" b="0" i="0">
                <a:solidFill>
                  <a:srgbClr val="000000"/>
                </a:solidFill>
                <a:latin typeface="Arial"/>
              </a:defRPr>
            </a:pPr>
            <a:r>
              <a:t>Day 3 — LangChain + Building Your First Chatbot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1234440"/>
            <a:ext cx="10972800" cy="5257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800"/>
              </a:spcAft>
              <a:defRPr sz="1800" b="0" i="0">
                <a:solidFill>
                  <a:srgbClr val="000000"/>
                </a:solidFill>
                <a:latin typeface="Arial"/>
              </a:defRPr>
            </a:pPr>
            <a:r>
              <a:t>Concepts behind the code</a:t>
            </a:r>
          </a:p>
          <a:p>
            <a:pPr>
              <a:spcBef>
                <a:spcPts val="0"/>
              </a:spcBef>
              <a:spcAft>
                <a:spcPts val="800"/>
              </a:spcAft>
              <a:defRPr sz="1800" b="0" i="0">
                <a:solidFill>
                  <a:srgbClr val="000000"/>
                </a:solidFill>
                <a:latin typeface="Arial"/>
              </a:defRPr>
            </a:pPr>
            <a:r>
              <a:t>Python 3.13+ | Ollama (local) | Gemini (cloud) | Streamlit</a:t>
            </a:r>
          </a:p>
          <a:p>
            <a:pPr>
              <a:spcBef>
                <a:spcPts val="0"/>
              </a:spcBef>
              <a:spcAft>
                <a:spcPts val="800"/>
              </a:spcAft>
              <a:defRPr sz="1800" b="0" i="0">
                <a:solidFill>
                  <a:srgbClr val="000000"/>
                </a:solidFill>
                <a:latin typeface="Arial"/>
              </a:defRPr>
            </a:pPr>
            <a:r>
              <a:t>Purpose: understand the components and ideas used to build a chatbot, without reproducing source-code snippets.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20040"/>
            <a:ext cx="1115568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500" b="0" i="0">
                <a:solidFill>
                  <a:srgbClr val="000000"/>
                </a:solidFill>
                <a:latin typeface="Arial"/>
              </a:defRPr>
            </a:pPr>
            <a:r>
              <a:t>Learning Roadmap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1234440"/>
            <a:ext cx="10972800" cy="5257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800"/>
              </a:spcAft>
              <a:defRPr sz="1800" b="0" i="0">
                <a:solidFill>
                  <a:srgbClr val="000000"/>
                </a:solidFill>
                <a:latin typeface="Arial"/>
              </a:defRPr>
            </a:pPr>
            <a:r>
              <a:t>Session 1: LangChain core concepts — models, prompts, chains, memory, and LCEL.</a:t>
            </a:r>
          </a:p>
          <a:p>
            <a:pPr>
              <a:spcBef>
                <a:spcPts val="0"/>
              </a:spcBef>
              <a:spcAft>
                <a:spcPts val="800"/>
              </a:spcAft>
              <a:defRPr sz="1800" b="0" i="0">
                <a:solidFill>
                  <a:srgbClr val="000000"/>
                </a:solidFill>
                <a:latin typeface="Arial"/>
              </a:defRPr>
            </a:pPr>
            <a:r>
              <a:t>Session 2: Streamlit UI basics — inputs, session state, and chat components.</a:t>
            </a:r>
          </a:p>
          <a:p>
            <a:pPr>
              <a:spcBef>
                <a:spcPts val="0"/>
              </a:spcBef>
              <a:spcAft>
                <a:spcPts val="800"/>
              </a:spcAft>
              <a:defRPr sz="1800" b="0" i="0">
                <a:solidFill>
                  <a:srgbClr val="000000"/>
                </a:solidFill>
                <a:latin typeface="Arial"/>
              </a:defRPr>
            </a:pPr>
            <a:r>
              <a:t>Session 3: Connect the model, conversation history, and interface into a chatbot.</a:t>
            </a:r>
          </a:p>
          <a:p>
            <a:pPr>
              <a:spcBef>
                <a:spcPts val="0"/>
              </a:spcBef>
              <a:spcAft>
                <a:spcPts val="800"/>
              </a:spcAft>
              <a:defRPr sz="1800" b="0" i="0">
                <a:solidFill>
                  <a:srgbClr val="000000"/>
                </a:solidFill>
                <a:latin typeface="Arial"/>
              </a:defRPr>
            </a:pPr>
            <a:r>
              <a:t>Learning sequence: model access → pipeline → conversation context → user interface → integrated application.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20040"/>
            <a:ext cx="1115568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500" b="0" i="0">
                <a:solidFill>
                  <a:srgbClr val="000000"/>
                </a:solidFill>
                <a:latin typeface="Arial"/>
              </a:defRPr>
            </a:pPr>
            <a:r>
              <a:t>Prerequisite: What Is Artificial Intelligence?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1234440"/>
            <a:ext cx="10972800" cy="5257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800"/>
              </a:spcAft>
              <a:defRPr sz="1800" b="0" i="0">
                <a:solidFill>
                  <a:srgbClr val="000000"/>
                </a:solidFill>
                <a:latin typeface="Arial"/>
              </a:defRPr>
            </a:pPr>
            <a:r>
              <a:t>Artificial intelligence is the broad field of building systems that perform tasks associated with human intelligence.</a:t>
            </a:r>
          </a:p>
          <a:p>
            <a:pPr>
              <a:spcBef>
                <a:spcPts val="0"/>
              </a:spcBef>
              <a:spcAft>
                <a:spcPts val="800"/>
              </a:spcAft>
              <a:defRPr sz="1800" b="0" i="0">
                <a:solidFill>
                  <a:srgbClr val="000000"/>
                </a:solidFill>
                <a:latin typeface="Arial"/>
              </a:defRPr>
            </a:pPr>
            <a:r>
              <a:t>Generative AI creates new content, such as text, images, audio, or code.</a:t>
            </a:r>
          </a:p>
          <a:p>
            <a:pPr>
              <a:spcBef>
                <a:spcPts val="0"/>
              </a:spcBef>
              <a:spcAft>
                <a:spcPts val="800"/>
              </a:spcAft>
              <a:defRPr sz="1800" b="0" i="0">
                <a:solidFill>
                  <a:srgbClr val="000000"/>
                </a:solidFill>
                <a:latin typeface="Arial"/>
              </a:defRPr>
            </a:pPr>
            <a:r>
              <a:t>A large language model is a generative AI model focused on understanding patterns in language and producing text.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20040"/>
            <a:ext cx="1115568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500" b="0" i="0">
                <a:solidFill>
                  <a:srgbClr val="000000"/>
                </a:solidFill>
                <a:latin typeface="Arial"/>
              </a:defRPr>
            </a:pPr>
            <a:r>
              <a:t>Prerequisite: What Is an LLM?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1234440"/>
            <a:ext cx="10972800" cy="5257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800"/>
              </a:spcAft>
              <a:defRPr sz="1800" b="0" i="0">
                <a:solidFill>
                  <a:srgbClr val="000000"/>
                </a:solidFill>
                <a:latin typeface="Arial"/>
              </a:defRPr>
            </a:pPr>
            <a:r>
              <a:t>A large language model (LLM) is trained on large amounts of data to learn patterns in language.</a:t>
            </a:r>
          </a:p>
          <a:p>
            <a:pPr>
              <a:spcBef>
                <a:spcPts val="0"/>
              </a:spcBef>
              <a:spcAft>
                <a:spcPts val="800"/>
              </a:spcAft>
              <a:defRPr sz="1800" b="0" i="0">
                <a:solidFill>
                  <a:srgbClr val="000000"/>
                </a:solidFill>
                <a:latin typeface="Arial"/>
              </a:defRPr>
            </a:pPr>
            <a:r>
              <a:t>It generates a response based on the prompt and context supplied to it.</a:t>
            </a:r>
          </a:p>
          <a:p>
            <a:pPr>
              <a:spcBef>
                <a:spcPts val="0"/>
              </a:spcBef>
              <a:spcAft>
                <a:spcPts val="800"/>
              </a:spcAft>
              <a:defRPr sz="1800" b="0" i="0">
                <a:solidFill>
                  <a:srgbClr val="000000"/>
                </a:solidFill>
                <a:latin typeface="Arial"/>
              </a:defRPr>
            </a:pPr>
            <a:r>
              <a:t>Examples named in the course include Gemini, LLaMA, Phi, and models from OpenAI.</a:t>
            </a:r>
          </a:p>
          <a:p>
            <a:pPr>
              <a:spcBef>
                <a:spcPts val="0"/>
              </a:spcBef>
              <a:spcAft>
                <a:spcPts val="800"/>
              </a:spcAft>
              <a:defRPr sz="1800" b="0" i="0">
                <a:solidFill>
                  <a:srgbClr val="000000"/>
                </a:solidFill>
                <a:latin typeface="Arial"/>
              </a:defRPr>
            </a:pPr>
            <a:r>
              <a:t>Fluent output is not proof of truth; model responses can be incorrect or invented.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20040"/>
            <a:ext cx="1115568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500" b="0" i="0">
                <a:solidFill>
                  <a:srgbClr val="000000"/>
                </a:solidFill>
                <a:latin typeface="Arial"/>
              </a:defRPr>
            </a:pPr>
            <a:r>
              <a:t>Prerequisite: What Is a Chatbot?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1234440"/>
            <a:ext cx="10972800" cy="5257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800"/>
              </a:spcAft>
              <a:defRPr sz="1800" b="0" i="0">
                <a:solidFill>
                  <a:srgbClr val="000000"/>
                </a:solidFill>
                <a:latin typeface="Arial"/>
              </a:defRPr>
            </a:pPr>
            <a:r>
              <a:t>A chatbot is an application that lets a person exchange messages with a software system.</a:t>
            </a:r>
          </a:p>
          <a:p>
            <a:pPr>
              <a:spcBef>
                <a:spcPts val="0"/>
              </a:spcBef>
              <a:spcAft>
                <a:spcPts val="800"/>
              </a:spcAft>
              <a:defRPr sz="1800" b="0" i="0">
                <a:solidFill>
                  <a:srgbClr val="000000"/>
                </a:solidFill>
                <a:latin typeface="Arial"/>
              </a:defRPr>
            </a:pPr>
            <a:r>
              <a:t>A simple chatbot may use fixed rules; an LLM-powered chatbot generates responses using a language model.</a:t>
            </a:r>
          </a:p>
          <a:p>
            <a:pPr>
              <a:spcBef>
                <a:spcPts val="0"/>
              </a:spcBef>
              <a:spcAft>
                <a:spcPts val="800"/>
              </a:spcAft>
              <a:defRPr sz="1800" b="0" i="0">
                <a:solidFill>
                  <a:srgbClr val="000000"/>
                </a:solidFill>
                <a:latin typeface="Arial"/>
              </a:defRPr>
            </a:pPr>
            <a:r>
              <a:t>A complete LLM chatbot usually needs a model connection, instructions, conversation context, a user interface, and error handling.</a:t>
            </a:r>
          </a:p>
          <a:p>
            <a:pPr>
              <a:spcBef>
                <a:spcPts val="0"/>
              </a:spcBef>
              <a:spcAft>
                <a:spcPts val="800"/>
              </a:spcAft>
              <a:defRPr sz="1800" b="0" i="0">
                <a:solidFill>
                  <a:srgbClr val="000000"/>
                </a:solidFill>
                <a:latin typeface="Arial"/>
              </a:defRPr>
            </a:pPr>
            <a:r>
              <a:t>The LLM generates responses; the surrounding application manages the interaction.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20040"/>
            <a:ext cx="1115568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500" b="0" i="0">
                <a:solidFill>
                  <a:srgbClr val="000000"/>
                </a:solidFill>
                <a:latin typeface="Arial"/>
              </a:defRPr>
            </a:pPr>
            <a:r>
              <a:t>Prerequisite: What Is an API and a Client Library?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1234440"/>
            <a:ext cx="10972800" cy="5257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800"/>
              </a:spcAft>
              <a:defRPr sz="1800" b="0" i="0">
                <a:solidFill>
                  <a:srgbClr val="000000"/>
                </a:solidFill>
                <a:latin typeface="Arial"/>
              </a:defRPr>
            </a:pPr>
            <a:r>
              <a:t>An API is a defined interface through which one software component requests a service from another.</a:t>
            </a:r>
          </a:p>
          <a:p>
            <a:pPr>
              <a:spcBef>
                <a:spcPts val="0"/>
              </a:spcBef>
              <a:spcAft>
                <a:spcPts val="800"/>
              </a:spcAft>
              <a:defRPr sz="1800" b="0" i="0">
                <a:solidFill>
                  <a:srgbClr val="000000"/>
                </a:solidFill>
                <a:latin typeface="Arial"/>
              </a:defRPr>
            </a:pPr>
            <a:r>
              <a:t>A client library provides functions and objects that make API requests easier to perform from an application.</a:t>
            </a:r>
          </a:p>
          <a:p>
            <a:pPr>
              <a:spcBef>
                <a:spcPts val="0"/>
              </a:spcBef>
              <a:spcAft>
                <a:spcPts val="800"/>
              </a:spcAft>
              <a:defRPr sz="1800" b="0" i="0">
                <a:solidFill>
                  <a:srgbClr val="000000"/>
                </a:solidFill>
                <a:latin typeface="Arial"/>
              </a:defRPr>
            </a:pPr>
            <a:r>
              <a:t>A model request sends input and settings and receives a generated response.</a:t>
            </a:r>
          </a:p>
          <a:p>
            <a:pPr>
              <a:spcBef>
                <a:spcPts val="0"/>
              </a:spcBef>
              <a:spcAft>
                <a:spcPts val="800"/>
              </a:spcAft>
              <a:defRPr sz="1800" b="0" i="0">
                <a:solidFill>
                  <a:srgbClr val="000000"/>
                </a:solidFill>
                <a:latin typeface="Arial"/>
              </a:defRPr>
            </a:pPr>
            <a:r>
              <a:t>Requests can fail because of network problems, credentials, usage quotas, or unsupported settings.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20040"/>
            <a:ext cx="1115568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500" b="0" i="0">
                <a:solidFill>
                  <a:srgbClr val="000000"/>
                </a:solidFill>
                <a:latin typeface="Arial"/>
              </a:defRPr>
            </a:pPr>
            <a:r>
              <a:t>Prerequisite: Local Models and Cloud Models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1234440"/>
            <a:ext cx="10972800" cy="5257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800"/>
              </a:spcAft>
              <a:defRPr sz="1800" b="0" i="0">
                <a:solidFill>
                  <a:srgbClr val="000000"/>
                </a:solidFill>
                <a:latin typeface="Arial"/>
              </a:defRPr>
            </a:pPr>
            <a:r>
              <a:t>Local inference runs a model on the user's computer. Ollama is the local model tool used in this course.</a:t>
            </a:r>
          </a:p>
          <a:p>
            <a:pPr>
              <a:spcBef>
                <a:spcPts val="0"/>
              </a:spcBef>
              <a:spcAft>
                <a:spcPts val="800"/>
              </a:spcAft>
              <a:defRPr sz="1800" b="0" i="0">
                <a:solidFill>
                  <a:srgbClr val="000000"/>
                </a:solidFill>
                <a:latin typeface="Arial"/>
              </a:defRPr>
            </a:pPr>
            <a:r>
              <a:t>Cloud inference sends a request to a provider-hosted model. Gemini is the cloud option in this course.</a:t>
            </a:r>
          </a:p>
          <a:p>
            <a:pPr>
              <a:spcBef>
                <a:spcPts val="0"/>
              </a:spcBef>
              <a:spcAft>
                <a:spcPts val="800"/>
              </a:spcAft>
              <a:defRPr sz="1800" b="0" i="0">
                <a:solidFill>
                  <a:srgbClr val="000000"/>
                </a:solidFill>
                <a:latin typeface="Arial"/>
              </a:defRPr>
            </a:pPr>
            <a:r>
              <a:t>Local use can work without an ongoing internet connection after setup, but performance depends on hardware.</a:t>
            </a:r>
          </a:p>
          <a:p>
            <a:pPr>
              <a:spcBef>
                <a:spcPts val="0"/>
              </a:spcBef>
              <a:spcAft>
                <a:spcPts val="800"/>
              </a:spcAft>
              <a:defRPr sz="1800" b="0" i="0">
                <a:solidFill>
                  <a:srgbClr val="000000"/>
                </a:solidFill>
                <a:latin typeface="Arial"/>
              </a:defRPr>
            </a:pPr>
            <a:r>
              <a:t>Cloud use may provide more capability, but generally needs internet access, credentials, and attention to usage limits or cost.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20040"/>
            <a:ext cx="1115568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500" b="0" i="0">
                <a:solidFill>
                  <a:srgbClr val="000000"/>
                </a:solidFill>
                <a:latin typeface="Arial"/>
              </a:defRPr>
            </a:pPr>
            <a:r>
              <a:t>What Is Ollama?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1234440"/>
            <a:ext cx="10972800" cy="5257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800"/>
              </a:spcAft>
              <a:defRPr sz="1800" b="0" i="0">
                <a:solidFill>
                  <a:srgbClr val="000000"/>
                </a:solidFill>
                <a:latin typeface="Arial"/>
              </a:defRPr>
            </a:pPr>
            <a:r>
              <a:t>Ollama is a tool for downloading and running supported language models locally.</a:t>
            </a:r>
          </a:p>
          <a:p>
            <a:pPr>
              <a:spcBef>
                <a:spcPts val="0"/>
              </a:spcBef>
              <a:spcAft>
                <a:spcPts val="800"/>
              </a:spcAft>
              <a:defRPr sz="1800" b="0" i="0">
                <a:solidFill>
                  <a:srgbClr val="000000"/>
                </a:solidFill>
                <a:latin typeface="Arial"/>
              </a:defRPr>
            </a:pPr>
            <a:r>
              <a:t>An application can send requests to the model running on the local computer.</a:t>
            </a:r>
          </a:p>
          <a:p>
            <a:pPr>
              <a:spcBef>
                <a:spcPts val="0"/>
              </a:spcBef>
              <a:spcAft>
                <a:spcPts val="800"/>
              </a:spcAft>
              <a:defRPr sz="1800" b="0" i="0">
                <a:solidFill>
                  <a:srgbClr val="000000"/>
                </a:solidFill>
                <a:latin typeface="Arial"/>
              </a:defRPr>
            </a:pPr>
            <a:r>
              <a:t>Performance depends on the selected model, available memory, and hardware resources.</a:t>
            </a:r>
          </a:p>
          <a:p>
            <a:pPr>
              <a:spcBef>
                <a:spcPts val="0"/>
              </a:spcBef>
              <a:spcAft>
                <a:spcPts val="800"/>
              </a:spcAft>
              <a:defRPr sz="1800" b="0" i="0">
                <a:solidFill>
                  <a:srgbClr val="000000"/>
                </a:solidFill>
                <a:latin typeface="Arial"/>
              </a:defRPr>
            </a:pPr>
            <a:r>
              <a:t>Local inference can help with experimentation and privacy, but local models can have capability limitations.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20040"/>
            <a:ext cx="1115568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500" b="0" i="0">
                <a:solidFill>
                  <a:srgbClr val="000000"/>
                </a:solidFill>
                <a:latin typeface="Arial"/>
              </a:defRPr>
            </a:pPr>
            <a:r>
              <a:t>What Is Gemini?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1234440"/>
            <a:ext cx="10972800" cy="5257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800"/>
              </a:spcAft>
              <a:defRPr sz="1800" b="0" i="0">
                <a:solidFill>
                  <a:srgbClr val="000000"/>
                </a:solidFill>
                <a:latin typeface="Arial"/>
              </a:defRPr>
            </a:pPr>
            <a:r>
              <a:t>Gemini is Google's family of language models, accessed here through a cloud API.</a:t>
            </a:r>
          </a:p>
          <a:p>
            <a:pPr>
              <a:spcBef>
                <a:spcPts val="0"/>
              </a:spcBef>
              <a:spcAft>
                <a:spcPts val="800"/>
              </a:spcAft>
              <a:defRPr sz="1800" b="0" i="0">
                <a:solidFill>
                  <a:srgbClr val="000000"/>
                </a:solidFill>
                <a:latin typeface="Arial"/>
              </a:defRPr>
            </a:pPr>
            <a:r>
              <a:t>The application sends a request to Google's service and receives a generated response.</a:t>
            </a:r>
          </a:p>
          <a:p>
            <a:pPr>
              <a:spcBef>
                <a:spcPts val="0"/>
              </a:spcBef>
              <a:spcAft>
                <a:spcPts val="800"/>
              </a:spcAft>
              <a:defRPr sz="1800" b="0" i="0">
                <a:solidFill>
                  <a:srgbClr val="000000"/>
                </a:solidFill>
                <a:latin typeface="Arial"/>
              </a:defRPr>
            </a:pPr>
            <a:r>
              <a:t>Access generally requires a Gemini API key, which must be stored securely.</a:t>
            </a:r>
          </a:p>
          <a:p>
            <a:pPr>
              <a:spcBef>
                <a:spcPts val="0"/>
              </a:spcBef>
              <a:spcAft>
                <a:spcPts val="800"/>
              </a:spcAft>
              <a:defRPr sz="1800" b="0" i="0">
                <a:solidFill>
                  <a:srgbClr val="000000"/>
                </a:solidFill>
                <a:latin typeface="Arial"/>
              </a:defRPr>
            </a:pPr>
            <a:r>
              <a:t>Cloud model availability, settings, quotas, and pricing depend on the provider and selected model.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20040"/>
            <a:ext cx="1115568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500" b="0" i="0">
                <a:solidFill>
                  <a:srgbClr val="000000"/>
                </a:solidFill>
                <a:latin typeface="Arial"/>
              </a:defRPr>
            </a:pPr>
            <a:r>
              <a:t>Prerequisite: API Keys and Environment Variables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1234440"/>
            <a:ext cx="10972800" cy="5257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800"/>
              </a:spcAft>
              <a:defRPr sz="1800" b="0" i="0">
                <a:solidFill>
                  <a:srgbClr val="000000"/>
                </a:solidFill>
                <a:latin typeface="Arial"/>
              </a:defRPr>
            </a:pPr>
            <a:r>
              <a:t>An API key is a credential used to identify or authorize an application with a service.</a:t>
            </a:r>
          </a:p>
          <a:p>
            <a:pPr>
              <a:spcBef>
                <a:spcPts val="0"/>
              </a:spcBef>
              <a:spcAft>
                <a:spcPts val="800"/>
              </a:spcAft>
              <a:defRPr sz="1800" b="0" i="0">
                <a:solidFill>
                  <a:srgbClr val="000000"/>
                </a:solidFill>
                <a:latin typeface="Arial"/>
              </a:defRPr>
            </a:pPr>
            <a:r>
              <a:t>An environment variable stores configuration separately from the main program logic.</a:t>
            </a:r>
          </a:p>
          <a:p>
            <a:pPr>
              <a:spcBef>
                <a:spcPts val="0"/>
              </a:spcBef>
              <a:spcAft>
                <a:spcPts val="800"/>
              </a:spcAft>
              <a:defRPr sz="1800" b="0" i="0">
                <a:solidFill>
                  <a:srgbClr val="000000"/>
                </a:solidFill>
                <a:latin typeface="Arial"/>
              </a:defRPr>
            </a:pPr>
            <a:r>
              <a:t>A .env file is a common local way to define environment variables during development.</a:t>
            </a:r>
          </a:p>
          <a:p>
            <a:pPr>
              <a:spcBef>
                <a:spcPts val="0"/>
              </a:spcBef>
              <a:spcAft>
                <a:spcPts val="800"/>
              </a:spcAft>
              <a:defRPr sz="1800" b="0" i="0">
                <a:solidFill>
                  <a:srgbClr val="000000"/>
                </a:solidFill>
                <a:latin typeface="Arial"/>
              </a:defRPr>
            </a:pPr>
            <a:r>
              <a:t>Keep API keys out of source code, version control, screenshots, and logs.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20040"/>
            <a:ext cx="1115568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500" b="0" i="0">
                <a:solidFill>
                  <a:srgbClr val="000000"/>
                </a:solidFill>
                <a:latin typeface="Arial"/>
              </a:defRPr>
            </a:pPr>
            <a:r>
              <a:t>What Is a Framework?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1234440"/>
            <a:ext cx="10972800" cy="5257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800"/>
              </a:spcAft>
              <a:defRPr sz="1800" b="0" i="0">
                <a:solidFill>
                  <a:srgbClr val="000000"/>
                </a:solidFill>
                <a:latin typeface="Arial"/>
              </a:defRPr>
            </a:pPr>
            <a:r>
              <a:t>A framework provides reusable components, conventions, and structures for building a type of application.</a:t>
            </a:r>
          </a:p>
          <a:p>
            <a:pPr>
              <a:spcBef>
                <a:spcPts val="0"/>
              </a:spcBef>
              <a:spcAft>
                <a:spcPts val="800"/>
              </a:spcAft>
              <a:defRPr sz="1800" b="0" i="0">
                <a:solidFill>
                  <a:srgbClr val="000000"/>
                </a:solidFill>
                <a:latin typeface="Arial"/>
              </a:defRPr>
            </a:pPr>
            <a:r>
              <a:t>It reduces repeated work by offering established patterns and integrations.</a:t>
            </a:r>
          </a:p>
          <a:p>
            <a:pPr>
              <a:spcBef>
                <a:spcPts val="0"/>
              </a:spcBef>
              <a:spcAft>
                <a:spcPts val="800"/>
              </a:spcAft>
              <a:defRPr sz="1800" b="0" i="0">
                <a:solidFill>
                  <a:srgbClr val="000000"/>
                </a:solidFill>
                <a:latin typeface="Arial"/>
              </a:defRPr>
            </a:pPr>
            <a:r>
              <a:t>A framework does not remove the need to understand its components or validate their behavior.</a:t>
            </a:r>
          </a:p>
          <a:p>
            <a:pPr>
              <a:spcBef>
                <a:spcPts val="0"/>
              </a:spcBef>
              <a:spcAft>
                <a:spcPts val="800"/>
              </a:spcAft>
              <a:defRPr sz="1800" b="0" i="0">
                <a:solidFill>
                  <a:srgbClr val="000000"/>
                </a:solidFill>
                <a:latin typeface="Arial"/>
              </a:defRPr>
            </a:pPr>
            <a:r>
              <a:t>LangChain is a framework for organizing applications powered by language models.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20040"/>
            <a:ext cx="1115568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500" b="0" i="0">
                <a:solidFill>
                  <a:srgbClr val="000000"/>
                </a:solidFill>
                <a:latin typeface="Arial"/>
              </a:defRPr>
            </a:pPr>
            <a:r>
              <a:t>What Is LangChain?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1234440"/>
            <a:ext cx="10972800" cy="5257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800"/>
              </a:spcAft>
              <a:defRPr sz="1800" b="0" i="0">
                <a:solidFill>
                  <a:srgbClr val="000000"/>
                </a:solidFill>
                <a:latin typeface="Arial"/>
              </a:defRPr>
            </a:pPr>
            <a:r>
              <a:t>LangChain is a framework for building applications that use large language models.</a:t>
            </a:r>
          </a:p>
          <a:p>
            <a:pPr>
              <a:spcBef>
                <a:spcPts val="0"/>
              </a:spcBef>
              <a:spcAft>
                <a:spcPts val="800"/>
              </a:spcAft>
              <a:defRPr sz="1800" b="0" i="0">
                <a:solidFill>
                  <a:srgbClr val="000000"/>
                </a:solidFill>
                <a:latin typeface="Arial"/>
              </a:defRPr>
            </a:pPr>
            <a:r>
              <a:t>It provides components for prompts, model integrations, chains, memory, output handling, and tools.</a:t>
            </a:r>
          </a:p>
          <a:p>
            <a:pPr>
              <a:spcBef>
                <a:spcPts val="0"/>
              </a:spcBef>
              <a:spcAft>
                <a:spcPts val="800"/>
              </a:spcAft>
              <a:defRPr sz="1800" b="0" i="0">
                <a:solidFill>
                  <a:srgbClr val="000000"/>
                </a:solidFill>
                <a:latin typeface="Arial"/>
              </a:defRPr>
            </a:pPr>
            <a:r>
              <a:t>Developers connect reusable components rather than manually writing every connection from scratch.</a:t>
            </a:r>
          </a:p>
          <a:p>
            <a:pPr>
              <a:spcBef>
                <a:spcPts val="0"/>
              </a:spcBef>
              <a:spcAft>
                <a:spcPts val="800"/>
              </a:spcAft>
              <a:defRPr sz="1800" b="0" i="0">
                <a:solidFill>
                  <a:srgbClr val="000000"/>
                </a:solidFill>
                <a:latin typeface="Arial"/>
              </a:defRPr>
            </a:pPr>
            <a:r>
              <a:t>LangChain does not replace the LLM; it helps the application prepare requests, call models, and handle responses.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20040"/>
            <a:ext cx="1115568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500" b="0" i="0">
                <a:solidFill>
                  <a:srgbClr val="000000"/>
                </a:solidFill>
                <a:latin typeface="Arial"/>
              </a:defRPr>
            </a:pPr>
            <a:r>
              <a:t>LangChain's Core Building Blocks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1234440"/>
            <a:ext cx="10972800" cy="5257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800"/>
              </a:spcAft>
              <a:defRPr sz="1800" b="0" i="0">
                <a:solidFill>
                  <a:srgbClr val="000000"/>
                </a:solidFill>
                <a:latin typeface="Arial"/>
              </a:defRPr>
            </a:pPr>
            <a:r>
              <a:t>Models: connect an application to a language model through a consistent interface.</a:t>
            </a:r>
          </a:p>
          <a:p>
            <a:pPr>
              <a:spcBef>
                <a:spcPts val="0"/>
              </a:spcBef>
              <a:spcAft>
                <a:spcPts val="800"/>
              </a:spcAft>
              <a:defRPr sz="1800" b="0" i="0">
                <a:solidFill>
                  <a:srgbClr val="000000"/>
                </a:solidFill>
                <a:latin typeface="Arial"/>
              </a:defRPr>
            </a:pPr>
            <a:r>
              <a:t>Prompts: organize instructions and variable input before sending a request.</a:t>
            </a:r>
          </a:p>
          <a:p>
            <a:pPr>
              <a:spcBef>
                <a:spcPts val="0"/>
              </a:spcBef>
              <a:spcAft>
                <a:spcPts val="800"/>
              </a:spcAft>
              <a:defRPr sz="1800" b="0" i="0">
                <a:solidFill>
                  <a:srgbClr val="000000"/>
                </a:solidFill>
                <a:latin typeface="Arial"/>
              </a:defRPr>
            </a:pPr>
            <a:r>
              <a:t>Chains: connect processing components into a reusable workflow.</a:t>
            </a:r>
          </a:p>
          <a:p>
            <a:pPr>
              <a:spcBef>
                <a:spcPts val="0"/>
              </a:spcBef>
              <a:spcAft>
                <a:spcPts val="800"/>
              </a:spcAft>
              <a:defRPr sz="1800" b="0" i="0">
                <a:solidFill>
                  <a:srgbClr val="000000"/>
                </a:solidFill>
                <a:latin typeface="Arial"/>
              </a:defRPr>
            </a:pPr>
            <a:r>
              <a:t>Memory: makes previous conversation context available to later turns.</a:t>
            </a:r>
          </a:p>
          <a:p>
            <a:pPr>
              <a:spcBef>
                <a:spcPts val="0"/>
              </a:spcBef>
              <a:spcAft>
                <a:spcPts val="800"/>
              </a:spcAft>
              <a:defRPr sz="1800" b="0" i="0">
                <a:solidFill>
                  <a:srgbClr val="000000"/>
                </a:solidFill>
                <a:latin typeface="Arial"/>
              </a:defRPr>
            </a:pPr>
            <a:r>
              <a:t>Tools: let an application invoke external capabilities, such as search, calculators, or APIs.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20040"/>
            <a:ext cx="1115568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500" b="0" i="0">
                <a:solidFill>
                  <a:srgbClr val="000000"/>
                </a:solidFill>
                <a:latin typeface="Arial"/>
              </a:defRPr>
            </a:pPr>
            <a:r>
              <a:t>Prerequisite: What Is a Pipeline?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1234440"/>
            <a:ext cx="10972800" cy="5257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800"/>
              </a:spcAft>
              <a:defRPr sz="1800" b="0" i="0">
                <a:solidFill>
                  <a:srgbClr val="000000"/>
                </a:solidFill>
                <a:latin typeface="Arial"/>
              </a:defRPr>
            </a:pPr>
            <a:r>
              <a:t>A pipeline is a sequence of processing steps where data flows from one step to the next.</a:t>
            </a:r>
          </a:p>
          <a:p>
            <a:pPr>
              <a:spcBef>
                <a:spcPts val="0"/>
              </a:spcBef>
              <a:spcAft>
                <a:spcPts val="800"/>
              </a:spcAft>
              <a:defRPr sz="1800" b="0" i="0">
                <a:solidFill>
                  <a:srgbClr val="000000"/>
                </a:solidFill>
                <a:latin typeface="Arial"/>
              </a:defRPr>
            </a:pPr>
            <a:r>
              <a:t>Each step transforms, enriches, or acts on the result produced by an earlier step.</a:t>
            </a:r>
          </a:p>
          <a:p>
            <a:pPr>
              <a:spcBef>
                <a:spcPts val="0"/>
              </a:spcBef>
              <a:spcAft>
                <a:spcPts val="800"/>
              </a:spcAft>
              <a:defRPr sz="1800" b="0" i="0">
                <a:solidFill>
                  <a:srgbClr val="000000"/>
                </a:solidFill>
                <a:latin typeface="Arial"/>
              </a:defRPr>
            </a:pPr>
            <a:r>
              <a:t>A chatbot pipeline can prepare messages, call a model, and convert the response into a useful form.</a:t>
            </a:r>
          </a:p>
          <a:p>
            <a:pPr>
              <a:spcBef>
                <a:spcPts val="0"/>
              </a:spcBef>
              <a:spcAft>
                <a:spcPts val="800"/>
              </a:spcAft>
              <a:defRPr sz="1800" b="0" i="0">
                <a:solidFill>
                  <a:srgbClr val="000000"/>
                </a:solidFill>
                <a:latin typeface="Arial"/>
              </a:defRPr>
            </a:pPr>
            <a:r>
              <a:t>Pipelines make multi-step behavior easier to understand, reuse, and change.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20040"/>
            <a:ext cx="1115568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500" b="0" i="0">
                <a:solidFill>
                  <a:srgbClr val="000000"/>
                </a:solidFill>
                <a:latin typeface="Arial"/>
              </a:defRPr>
            </a:pPr>
            <a:r>
              <a:t>What Is LCEL?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1234440"/>
            <a:ext cx="10972800" cy="5257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800"/>
              </a:spcAft>
              <a:defRPr sz="1800" b="0" i="0">
                <a:solidFill>
                  <a:srgbClr val="000000"/>
                </a:solidFill>
                <a:latin typeface="Arial"/>
              </a:defRPr>
            </a:pPr>
            <a:r>
              <a:t>LCEL stands for LangChain Expression Language.</a:t>
            </a:r>
          </a:p>
          <a:p>
            <a:pPr>
              <a:spcBef>
                <a:spcPts val="0"/>
              </a:spcBef>
              <a:spcAft>
                <a:spcPts val="800"/>
              </a:spcAft>
              <a:defRPr sz="1800" b="0" i="0">
                <a:solidFill>
                  <a:srgbClr val="000000"/>
                </a:solidFill>
                <a:latin typeface="Arial"/>
              </a:defRPr>
            </a:pPr>
            <a:r>
              <a:t>It is a way to compose LangChain components into runnable workflows.</a:t>
            </a:r>
          </a:p>
          <a:p>
            <a:pPr>
              <a:spcBef>
                <a:spcPts val="0"/>
              </a:spcBef>
              <a:spcAft>
                <a:spcPts val="800"/>
              </a:spcAft>
              <a:defRPr sz="1800" b="0" i="0">
                <a:solidFill>
                  <a:srgbClr val="000000"/>
                </a:solidFill>
                <a:latin typeface="Arial"/>
              </a:defRPr>
            </a:pPr>
            <a:r>
              <a:t>The pipe operator connects compatible components in sequence, such as prompt → model → output parser.</a:t>
            </a:r>
          </a:p>
          <a:p>
            <a:pPr>
              <a:spcBef>
                <a:spcPts val="0"/>
              </a:spcBef>
              <a:spcAft>
                <a:spcPts val="800"/>
              </a:spcAft>
              <a:defRPr sz="1800" b="0" i="0">
                <a:solidFill>
                  <a:srgbClr val="000000"/>
                </a:solidFill>
                <a:latin typeface="Arial"/>
              </a:defRPr>
            </a:pPr>
            <a:r>
              <a:t>The invoke operation runs the composed workflow with the input it expects.</a:t>
            </a:r>
          </a:p>
          <a:p>
            <a:pPr>
              <a:spcBef>
                <a:spcPts val="0"/>
              </a:spcBef>
              <a:spcAft>
                <a:spcPts val="800"/>
              </a:spcAft>
              <a:defRPr sz="1800" b="0" i="0">
                <a:solidFill>
                  <a:srgbClr val="000000"/>
                </a:solidFill>
                <a:latin typeface="Arial"/>
              </a:defRPr>
            </a:pPr>
            <a:r>
              <a:t>Focus on the data flow and each component's input and output, rather than memorizing the notation.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20040"/>
            <a:ext cx="1115568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500" b="0" i="0">
                <a:solidFill>
                  <a:srgbClr val="000000"/>
                </a:solidFill>
                <a:latin typeface="Arial"/>
              </a:defRPr>
            </a:pPr>
            <a:r>
              <a:t>Why Use LCEL?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1234440"/>
            <a:ext cx="10972800" cy="5257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800"/>
              </a:spcAft>
              <a:defRPr sz="1800" b="0" i="0">
                <a:solidFill>
                  <a:srgbClr val="000000"/>
                </a:solidFill>
                <a:latin typeface="Arial"/>
              </a:defRPr>
            </a:pPr>
            <a:r>
              <a:t>Readability: the workflow can be read in the order the data moves.</a:t>
            </a:r>
          </a:p>
          <a:p>
            <a:pPr>
              <a:spcBef>
                <a:spcPts val="0"/>
              </a:spcBef>
              <a:spcAft>
                <a:spcPts val="800"/>
              </a:spcAft>
              <a:defRPr sz="1800" b="0" i="0">
                <a:solidFill>
                  <a:srgbClr val="000000"/>
                </a:solidFill>
                <a:latin typeface="Arial"/>
              </a:defRPr>
            </a:pPr>
            <a:r>
              <a:t>Composability: compatible components can be combined into larger workflows.</a:t>
            </a:r>
          </a:p>
          <a:p>
            <a:pPr>
              <a:spcBef>
                <a:spcPts val="0"/>
              </a:spcBef>
              <a:spcAft>
                <a:spcPts val="800"/>
              </a:spcAft>
              <a:defRPr sz="1800" b="0" i="0">
                <a:solidFill>
                  <a:srgbClr val="000000"/>
                </a:solidFill>
                <a:latin typeface="Arial"/>
              </a:defRPr>
            </a:pPr>
            <a:r>
              <a:t>Flexibility: steps can be added, removed, or replaced as requirements change.</a:t>
            </a:r>
          </a:p>
          <a:p>
            <a:pPr>
              <a:spcBef>
                <a:spcPts val="0"/>
              </a:spcBef>
              <a:spcAft>
                <a:spcPts val="800"/>
              </a:spcAft>
              <a:defRPr sz="1800" b="0" i="0">
                <a:solidFill>
                  <a:srgbClr val="000000"/>
                </a:solidFill>
                <a:latin typeface="Arial"/>
              </a:defRPr>
            </a:pPr>
            <a:r>
              <a:t>Reusability: a chain can be defined once and invoked with different inputs.</a:t>
            </a:r>
          </a:p>
          <a:p>
            <a:pPr>
              <a:spcBef>
                <a:spcPts val="0"/>
              </a:spcBef>
              <a:spcAft>
                <a:spcPts val="800"/>
              </a:spcAft>
              <a:defRPr sz="1800" b="0" i="0">
                <a:solidFill>
                  <a:srgbClr val="000000"/>
                </a:solidFill>
                <a:latin typeface="Arial"/>
              </a:defRPr>
            </a:pPr>
            <a:r>
              <a:t>Debugging: inspecting individual steps helps locate where unexpected behavior occurs.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20040"/>
            <a:ext cx="1115568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500" b="0" i="0">
                <a:solidFill>
                  <a:srgbClr val="000000"/>
                </a:solidFill>
                <a:latin typeface="Arial"/>
              </a:defRPr>
            </a:pPr>
            <a:r>
              <a:t>Prerequisite: What Is a Model Response Object?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1234440"/>
            <a:ext cx="10972800" cy="5257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800"/>
              </a:spcAft>
              <a:defRPr sz="1800" b="0" i="0">
                <a:solidFill>
                  <a:srgbClr val="000000"/>
                </a:solidFill>
                <a:latin typeface="Arial"/>
              </a:defRPr>
            </a:pPr>
            <a:r>
              <a:t>A model integration may return a response object rather than a plain text string.</a:t>
            </a:r>
          </a:p>
          <a:p>
            <a:pPr>
              <a:spcBef>
                <a:spcPts val="0"/>
              </a:spcBef>
              <a:spcAft>
                <a:spcPts val="800"/>
              </a:spcAft>
              <a:defRPr sz="1800" b="0" i="0">
                <a:solidFill>
                  <a:srgbClr val="000000"/>
                </a:solidFill>
                <a:latin typeface="Arial"/>
              </a:defRPr>
            </a:pPr>
            <a:r>
              <a:t>The object can contain generated content and other metadata about the response.</a:t>
            </a:r>
          </a:p>
          <a:p>
            <a:pPr>
              <a:spcBef>
                <a:spcPts val="0"/>
              </a:spcBef>
              <a:spcAft>
                <a:spcPts val="800"/>
              </a:spcAft>
              <a:defRPr sz="1800" b="0" i="0">
                <a:solidFill>
                  <a:srgbClr val="000000"/>
                </a:solidFill>
                <a:latin typeface="Arial"/>
              </a:defRPr>
            </a:pPr>
            <a:r>
              <a:t>An application may need to extract the content field before displaying or processing the answer.</a:t>
            </a:r>
          </a:p>
          <a:p>
            <a:pPr>
              <a:spcBef>
                <a:spcPts val="0"/>
              </a:spcBef>
              <a:spcAft>
                <a:spcPts val="800"/>
              </a:spcAft>
              <a:defRPr sz="1800" b="0" i="0">
                <a:solidFill>
                  <a:srgbClr val="000000"/>
                </a:solidFill>
                <a:latin typeface="Arial"/>
              </a:defRPr>
            </a:pPr>
            <a:r>
              <a:t>An output parser can standardize the response into a simpler type, such as a string.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20040"/>
            <a:ext cx="1115568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500" b="0" i="0">
                <a:solidFill>
                  <a:srgbClr val="000000"/>
                </a:solidFill>
                <a:latin typeface="Arial"/>
              </a:defRPr>
            </a:pPr>
            <a:r>
              <a:t>What Is an Output Parser?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1234440"/>
            <a:ext cx="10972800" cy="5257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800"/>
              </a:spcAft>
              <a:defRPr sz="1800" b="0" i="0">
                <a:solidFill>
                  <a:srgbClr val="000000"/>
                </a:solidFill>
                <a:latin typeface="Arial"/>
              </a:defRPr>
            </a:pPr>
            <a:r>
              <a:t>An output parser converts a model response into a form that is easier for an application to use.</a:t>
            </a:r>
          </a:p>
          <a:p>
            <a:pPr>
              <a:spcBef>
                <a:spcPts val="0"/>
              </a:spcBef>
              <a:spcAft>
                <a:spcPts val="800"/>
              </a:spcAft>
              <a:defRPr sz="1800" b="0" i="0">
                <a:solidFill>
                  <a:srgbClr val="000000"/>
                </a:solidFill>
                <a:latin typeface="Arial"/>
              </a:defRPr>
            </a:pPr>
            <a:r>
              <a:t>A string parser returns plain text from the model response.</a:t>
            </a:r>
          </a:p>
          <a:p>
            <a:pPr>
              <a:spcBef>
                <a:spcPts val="0"/>
              </a:spcBef>
              <a:spcAft>
                <a:spcPts val="800"/>
              </a:spcAft>
              <a:defRPr sz="1800" b="0" i="0">
                <a:solidFill>
                  <a:srgbClr val="000000"/>
                </a:solidFill>
                <a:latin typeface="Arial"/>
              </a:defRPr>
            </a:pPr>
            <a:r>
              <a:t>Other parsers can convert responses into structured data.</a:t>
            </a:r>
          </a:p>
          <a:p>
            <a:pPr>
              <a:spcBef>
                <a:spcPts val="0"/>
              </a:spcBef>
              <a:spcAft>
                <a:spcPts val="800"/>
              </a:spcAft>
              <a:defRPr sz="1800" b="0" i="0">
                <a:solidFill>
                  <a:srgbClr val="000000"/>
                </a:solidFill>
                <a:latin typeface="Arial"/>
              </a:defRPr>
            </a:pPr>
            <a:r>
              <a:t>Parsing can fail if the response does not match the expected format, and parsing does not independently verify factual accuracy.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20040"/>
            <a:ext cx="1115568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500" b="0" i="0">
                <a:solidFill>
                  <a:srgbClr val="000000"/>
                </a:solidFill>
                <a:latin typeface="Arial"/>
              </a:defRPr>
            </a:pPr>
            <a:r>
              <a:t>Prerequisite: What Does Stateless Mean?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1234440"/>
            <a:ext cx="10972800" cy="5257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800"/>
              </a:spcAft>
              <a:defRPr sz="1800" b="0" i="0">
                <a:solidFill>
                  <a:srgbClr val="000000"/>
                </a:solidFill>
                <a:latin typeface="Arial"/>
              </a:defRPr>
            </a:pPr>
            <a:r>
              <a:t>A stateless request is handled without automatically retaining the previous request's conversation context.</a:t>
            </a:r>
          </a:p>
          <a:p>
            <a:pPr>
              <a:spcBef>
                <a:spcPts val="0"/>
              </a:spcBef>
              <a:spcAft>
                <a:spcPts val="800"/>
              </a:spcAft>
              <a:defRPr sz="1800" b="0" i="0">
                <a:solidFill>
                  <a:srgbClr val="000000"/>
                </a:solidFill>
                <a:latin typeface="Arial"/>
              </a:defRPr>
            </a:pPr>
            <a:r>
              <a:t>Many model calls are independent: a new request only contains the input and context supplied with it.</a:t>
            </a:r>
          </a:p>
          <a:p>
            <a:pPr>
              <a:spcBef>
                <a:spcPts val="0"/>
              </a:spcBef>
              <a:spcAft>
                <a:spcPts val="800"/>
              </a:spcAft>
              <a:defRPr sz="1800" b="0" i="0">
                <a:solidFill>
                  <a:srgbClr val="000000"/>
                </a:solidFill>
                <a:latin typeface="Arial"/>
              </a:defRPr>
            </a:pPr>
            <a:r>
              <a:t>Without earlier messages, a model may not know what the user said in a previous turn.</a:t>
            </a:r>
          </a:p>
          <a:p>
            <a:pPr>
              <a:spcBef>
                <a:spcPts val="0"/>
              </a:spcBef>
              <a:spcAft>
                <a:spcPts val="800"/>
              </a:spcAft>
              <a:defRPr sz="1800" b="0" i="0">
                <a:solidFill>
                  <a:srgbClr val="000000"/>
                </a:solidFill>
                <a:latin typeface="Arial"/>
              </a:defRPr>
            </a:pPr>
            <a:r>
              <a:t>Conversation memory is an application-level way to make earlier turns available again.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20040"/>
            <a:ext cx="1115568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500" b="0" i="0">
                <a:solidFill>
                  <a:srgbClr val="000000"/>
                </a:solidFill>
                <a:latin typeface="Arial"/>
              </a:defRPr>
            </a:pPr>
            <a:r>
              <a:rPr dirty="0"/>
              <a:t>What Is Conversation Memory?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1234440"/>
            <a:ext cx="10972800" cy="28931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342900" indent="-342900"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Char char="•"/>
              <a:defRPr sz="1800" b="0" i="0">
                <a:solidFill>
                  <a:srgbClr val="000000"/>
                </a:solidFill>
                <a:latin typeface="Arial"/>
              </a:defRPr>
            </a:pPr>
            <a:r>
              <a:rPr sz="2400" dirty="0"/>
              <a:t>Conversation memory stores information from earlier turns and makes relevant history available to later requests.</a:t>
            </a:r>
          </a:p>
          <a:p>
            <a:pPr marL="342900" indent="-342900"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Char char="•"/>
              <a:defRPr sz="1800" b="0" i="0">
                <a:solidFill>
                  <a:srgbClr val="000000"/>
                </a:solidFill>
                <a:latin typeface="Arial"/>
              </a:defRPr>
            </a:pPr>
            <a:r>
              <a:rPr sz="2400" dirty="0"/>
              <a:t>It typically preserves user messages and assistant responses.</a:t>
            </a:r>
          </a:p>
          <a:p>
            <a:pPr marL="342900" indent="-342900"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Char char="•"/>
              <a:defRPr sz="1800" b="0" i="0">
                <a:solidFill>
                  <a:srgbClr val="000000"/>
                </a:solidFill>
                <a:latin typeface="Arial"/>
              </a:defRPr>
            </a:pPr>
            <a:r>
              <a:rPr sz="2400" dirty="0">
                <a:highlight>
                  <a:srgbClr val="FFFF00"/>
                </a:highlight>
              </a:rPr>
              <a:t>The model appears to remember because previous context is included in the new prompt</a:t>
            </a:r>
            <a:r>
              <a:rPr sz="2400" dirty="0"/>
              <a:t>.</a:t>
            </a:r>
          </a:p>
          <a:p>
            <a:pPr marL="342900" indent="-342900"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Char char="•"/>
              <a:defRPr sz="1800" b="0" i="0">
                <a:solidFill>
                  <a:srgbClr val="000000"/>
                </a:solidFill>
                <a:latin typeface="Arial"/>
              </a:defRPr>
            </a:pPr>
            <a:r>
              <a:rPr sz="2400" dirty="0"/>
              <a:t>Memory does not mean the model's trained parameters are being changed by the conversation.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20040"/>
            <a:ext cx="1115568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500" b="0" i="0">
                <a:solidFill>
                  <a:srgbClr val="000000"/>
                </a:solidFill>
                <a:latin typeface="Arial"/>
              </a:defRPr>
            </a:pPr>
            <a:r>
              <a:t>ConversationBufferMemory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1234440"/>
            <a:ext cx="10972800" cy="29956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342900" indent="-342900"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Char char="•"/>
              <a:defRPr sz="1800" b="0" i="0">
                <a:solidFill>
                  <a:srgbClr val="000000"/>
                </a:solidFill>
                <a:latin typeface="Arial"/>
              </a:defRPr>
            </a:pPr>
            <a:r>
              <a:rPr sz="2400" dirty="0"/>
              <a:t>Buffer memory keeps the conversation history as individual messages.</a:t>
            </a:r>
          </a:p>
          <a:p>
            <a:pPr marL="342900" indent="-342900"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Char char="•"/>
              <a:defRPr sz="1800" b="0" i="0">
                <a:solidFill>
                  <a:srgbClr val="000000"/>
                </a:solidFill>
                <a:latin typeface="Arial"/>
              </a:defRPr>
            </a:pPr>
            <a:r>
              <a:rPr sz="2400" dirty="0"/>
              <a:t>Later requests can include the accumulated history so the model can refer to earlier details.</a:t>
            </a:r>
          </a:p>
          <a:p>
            <a:pPr marL="342900" indent="-342900"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Char char="•"/>
              <a:defRPr sz="1800" b="0" i="0">
                <a:solidFill>
                  <a:srgbClr val="000000"/>
                </a:solidFill>
                <a:latin typeface="Arial"/>
              </a:defRPr>
            </a:pPr>
            <a:r>
              <a:rPr sz="2400" dirty="0"/>
              <a:t>Advantage: original messages remain available in their full form.</a:t>
            </a:r>
          </a:p>
          <a:p>
            <a:pPr marL="342900" indent="-342900"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Char char="•"/>
              <a:defRPr sz="1800" b="0" i="0">
                <a:solidFill>
                  <a:srgbClr val="000000"/>
                </a:solidFill>
                <a:latin typeface="Arial"/>
              </a:defRPr>
            </a:pPr>
            <a:r>
              <a:rPr sz="2400" dirty="0"/>
              <a:t>Trade-off: the history grows with each turn and can consume more of the model's context window.</a:t>
            </a:r>
          </a:p>
          <a:p>
            <a:pPr marL="342900" indent="-342900"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Char char="•"/>
              <a:defRPr sz="1800" b="0" i="0">
                <a:solidFill>
                  <a:srgbClr val="000000"/>
                </a:solidFill>
                <a:latin typeface="Arial"/>
              </a:defRPr>
            </a:pPr>
            <a:r>
              <a:rPr sz="2400" dirty="0"/>
              <a:t>Best suited to shorter conversations when retaining the exact wording matters.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20040"/>
            <a:ext cx="1115568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500" b="0" i="0">
                <a:solidFill>
                  <a:srgbClr val="000000"/>
                </a:solidFill>
                <a:latin typeface="Arial"/>
              </a:defRPr>
            </a:pPr>
            <a:r>
              <a:t>ConversationSummaryMemory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1234440"/>
            <a:ext cx="10972800" cy="336502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342900" indent="-342900"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Char char="•"/>
              <a:defRPr sz="1800" b="0" i="0">
                <a:solidFill>
                  <a:srgbClr val="000000"/>
                </a:solidFill>
                <a:latin typeface="Arial"/>
              </a:defRPr>
            </a:pPr>
            <a:r>
              <a:rPr sz="2400" dirty="0"/>
              <a:t>Summary memory compresses older conversation history into a shorter summary.</a:t>
            </a:r>
          </a:p>
          <a:p>
            <a:pPr marL="342900" indent="-342900"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Char char="•"/>
              <a:defRPr sz="1800" b="0" i="0">
                <a:solidFill>
                  <a:srgbClr val="000000"/>
                </a:solidFill>
                <a:latin typeface="Arial"/>
              </a:defRPr>
            </a:pPr>
            <a:r>
              <a:rPr sz="2400" dirty="0"/>
              <a:t>The summary is used to preserve the important context while limiting history size.</a:t>
            </a:r>
          </a:p>
          <a:p>
            <a:pPr marL="342900" indent="-342900"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Char char="•"/>
              <a:defRPr sz="1800" b="0" i="0">
                <a:solidFill>
                  <a:srgbClr val="000000"/>
                </a:solidFill>
                <a:latin typeface="Arial"/>
              </a:defRPr>
            </a:pPr>
            <a:r>
              <a:rPr sz="2400" dirty="0"/>
              <a:t>Advantage: can keep longer conversations more manageable.</a:t>
            </a:r>
          </a:p>
          <a:p>
            <a:pPr marL="342900" indent="-342900"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Char char="•"/>
              <a:defRPr sz="1800" b="0" i="0">
                <a:solidFill>
                  <a:srgbClr val="000000"/>
                </a:solidFill>
                <a:latin typeface="Arial"/>
              </a:defRPr>
            </a:pPr>
            <a:r>
              <a:rPr sz="2400" dirty="0"/>
              <a:t>Trade-off: some specific details or nuance may be lost during </a:t>
            </a:r>
            <a:r>
              <a:rPr sz="2400" dirty="0" err="1"/>
              <a:t>summarisation</a:t>
            </a:r>
            <a:r>
              <a:rPr sz="2400" dirty="0"/>
              <a:t>.</a:t>
            </a:r>
          </a:p>
          <a:p>
            <a:pPr marL="342900" indent="-342900"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Char char="•"/>
              <a:defRPr sz="1800" b="0" i="0">
                <a:solidFill>
                  <a:srgbClr val="000000"/>
                </a:solidFill>
                <a:latin typeface="Arial"/>
              </a:defRPr>
            </a:pPr>
            <a:r>
              <a:rPr sz="2400" dirty="0"/>
              <a:t>Choose it when conversation length makes full history too large, and verify that the summary retains needed details.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20040"/>
            <a:ext cx="1115568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500" b="0" i="0">
                <a:solidFill>
                  <a:srgbClr val="000000"/>
                </a:solidFill>
                <a:latin typeface="Arial"/>
              </a:defRPr>
            </a:pPr>
            <a:r>
              <a:t>Buffer Memory vs Summary Memory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1234440"/>
            <a:ext cx="10972800" cy="5257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800"/>
              </a:spcAft>
              <a:defRPr sz="1800" b="0" i="0">
                <a:solidFill>
                  <a:srgbClr val="000000"/>
                </a:solidFill>
                <a:latin typeface="Arial"/>
              </a:defRPr>
            </a:pPr>
            <a:r>
              <a:t>Buffer: retains full messages; context grows; useful for shorter conversations.</a:t>
            </a:r>
          </a:p>
          <a:p>
            <a:pPr>
              <a:spcBef>
                <a:spcPts val="0"/>
              </a:spcBef>
              <a:spcAft>
                <a:spcPts val="800"/>
              </a:spcAft>
              <a:defRPr sz="1800" b="0" i="0">
                <a:solidFill>
                  <a:srgbClr val="000000"/>
                </a:solidFill>
                <a:latin typeface="Arial"/>
              </a:defRPr>
            </a:pPr>
            <a:r>
              <a:t>Summary: compresses older context; smaller history; useful for longer conversations.</a:t>
            </a:r>
          </a:p>
          <a:p>
            <a:pPr>
              <a:spcBef>
                <a:spcPts val="0"/>
              </a:spcBef>
              <a:spcAft>
                <a:spcPts val="800"/>
              </a:spcAft>
              <a:defRPr sz="1800" b="0" i="0">
                <a:solidFill>
                  <a:srgbClr val="000000"/>
                </a:solidFill>
                <a:latin typeface="Arial"/>
              </a:defRPr>
            </a:pPr>
            <a:r>
              <a:t>Neither approach guarantees perfect recall; the relevant information must still be present in the context.</a:t>
            </a:r>
          </a:p>
          <a:p>
            <a:pPr>
              <a:spcBef>
                <a:spcPts val="0"/>
              </a:spcBef>
              <a:spcAft>
                <a:spcPts val="800"/>
              </a:spcAft>
              <a:defRPr sz="1800" b="0" i="0">
                <a:solidFill>
                  <a:srgbClr val="000000"/>
                </a:solidFill>
                <a:latin typeface="Arial"/>
              </a:defRPr>
            </a:pPr>
            <a:r>
              <a:t>Applications should consider context limits, privacy, and whether a conversation should retain sensitive details.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20040"/>
            <a:ext cx="1115568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500" b="0" i="0">
                <a:solidFill>
                  <a:srgbClr val="000000"/>
                </a:solidFill>
                <a:latin typeface="Arial"/>
              </a:defRPr>
            </a:pPr>
            <a:r>
              <a:t>Prerequisite: What Is a Web Application?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1234440"/>
            <a:ext cx="10972800" cy="5257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800"/>
              </a:spcAft>
              <a:defRPr sz="1800" b="0" i="0">
                <a:solidFill>
                  <a:srgbClr val="000000"/>
                </a:solidFill>
                <a:latin typeface="Arial"/>
              </a:defRPr>
            </a:pPr>
            <a:r>
              <a:t>A web application is software accessed through a web browser.</a:t>
            </a:r>
          </a:p>
          <a:p>
            <a:pPr>
              <a:spcBef>
                <a:spcPts val="0"/>
              </a:spcBef>
              <a:spcAft>
                <a:spcPts val="800"/>
              </a:spcAft>
              <a:defRPr sz="1800" b="0" i="0">
                <a:solidFill>
                  <a:srgbClr val="000000"/>
                </a:solidFill>
                <a:latin typeface="Arial"/>
              </a:defRPr>
            </a:pPr>
            <a:r>
              <a:t>The interface runs in the browser while application logic runs in a local or remote process.</a:t>
            </a:r>
          </a:p>
          <a:p>
            <a:pPr>
              <a:spcBef>
                <a:spcPts val="0"/>
              </a:spcBef>
              <a:spcAft>
                <a:spcPts val="800"/>
              </a:spcAft>
              <a:defRPr sz="1800" b="0" i="0">
                <a:solidFill>
                  <a:srgbClr val="000000"/>
                </a:solidFill>
                <a:latin typeface="Arial"/>
              </a:defRPr>
            </a:pPr>
            <a:r>
              <a:t>Traditional web interfaces commonly use HTML for structure, CSS for appearance, and JavaScript for interaction.</a:t>
            </a:r>
          </a:p>
          <a:p>
            <a:pPr>
              <a:spcBef>
                <a:spcPts val="0"/>
              </a:spcBef>
              <a:spcAft>
                <a:spcPts val="800"/>
              </a:spcAft>
              <a:defRPr sz="1800" b="0" i="0">
                <a:solidFill>
                  <a:srgbClr val="000000"/>
                </a:solidFill>
                <a:latin typeface="Arial"/>
              </a:defRPr>
            </a:pPr>
            <a:r>
              <a:t>Python web frameworks can reduce how much frontend code a developer must write directly.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20040"/>
            <a:ext cx="11155680" cy="38472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500" b="0" i="0">
                <a:solidFill>
                  <a:srgbClr val="000000"/>
                </a:solidFill>
                <a:latin typeface="Arial"/>
              </a:defRPr>
            </a:pPr>
            <a:r>
              <a:rPr dirty="0"/>
              <a:t>What Is </a:t>
            </a:r>
            <a:r>
              <a:rPr dirty="0" err="1">
                <a:highlight>
                  <a:srgbClr val="FFFF00"/>
                </a:highlight>
              </a:rPr>
              <a:t>Streamlit</a:t>
            </a:r>
            <a:r>
              <a:rPr dirty="0"/>
              <a:t>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1234440"/>
            <a:ext cx="10972800" cy="375487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457200" indent="-457200"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Char char="•"/>
              <a:defRPr sz="1800" b="0" i="0">
                <a:solidFill>
                  <a:srgbClr val="000000"/>
                </a:solidFill>
                <a:latin typeface="Arial"/>
              </a:defRPr>
            </a:pPr>
            <a:r>
              <a:rPr sz="2800" dirty="0" err="1"/>
              <a:t>Streamlit</a:t>
            </a:r>
            <a:r>
              <a:rPr sz="2800" dirty="0"/>
              <a:t> is a </a:t>
            </a:r>
            <a:r>
              <a:rPr sz="2800" dirty="0">
                <a:highlight>
                  <a:srgbClr val="FFFF00"/>
                </a:highlight>
              </a:rPr>
              <a:t>Python library </a:t>
            </a:r>
            <a:r>
              <a:rPr sz="2800" dirty="0"/>
              <a:t>for creating interactive </a:t>
            </a:r>
            <a:r>
              <a:rPr sz="2800" dirty="0">
                <a:highlight>
                  <a:srgbClr val="FFFF00"/>
                </a:highlight>
              </a:rPr>
              <a:t>web applications </a:t>
            </a:r>
            <a:r>
              <a:rPr sz="2800" dirty="0"/>
              <a:t>from Python scripts.</a:t>
            </a:r>
          </a:p>
          <a:p>
            <a:pPr marL="457200" indent="-457200"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Char char="•"/>
              <a:defRPr sz="1800" b="0" i="0">
                <a:solidFill>
                  <a:srgbClr val="000000"/>
                </a:solidFill>
                <a:latin typeface="Arial"/>
              </a:defRPr>
            </a:pPr>
            <a:r>
              <a:rPr sz="2800" dirty="0"/>
              <a:t>It provides ready-made components for text input, buttons, selectors, charts, and chat interfaces.</a:t>
            </a:r>
          </a:p>
          <a:p>
            <a:pPr marL="457200" indent="-457200"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Char char="•"/>
              <a:defRPr sz="1800" b="0" i="0">
                <a:solidFill>
                  <a:srgbClr val="000000"/>
                </a:solidFill>
                <a:latin typeface="Arial"/>
              </a:defRPr>
            </a:pPr>
            <a:r>
              <a:rPr sz="2800" dirty="0"/>
              <a:t>It reduces the need to write HTML, CSS, and JavaScript for many data and </a:t>
            </a:r>
            <a:r>
              <a:rPr sz="2800" dirty="0">
                <a:highlight>
                  <a:srgbClr val="FFFF00"/>
                </a:highlight>
              </a:rPr>
              <a:t>AI applications</a:t>
            </a:r>
            <a:r>
              <a:rPr sz="2800" dirty="0"/>
              <a:t>.</a:t>
            </a:r>
          </a:p>
          <a:p>
            <a:pPr marL="457200" indent="-457200"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Char char="•"/>
              <a:defRPr sz="1800" b="0" i="0">
                <a:solidFill>
                  <a:srgbClr val="000000"/>
                </a:solidFill>
                <a:latin typeface="Arial"/>
              </a:defRPr>
            </a:pPr>
            <a:r>
              <a:rPr sz="2800" dirty="0"/>
              <a:t>The script runs in a Python process while the user interacts through a browser.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20040"/>
            <a:ext cx="1115568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500" b="0" i="0">
                <a:solidFill>
                  <a:srgbClr val="000000"/>
                </a:solidFill>
                <a:latin typeface="Arial"/>
              </a:defRPr>
            </a:pPr>
            <a:r>
              <a:t>How Streamlit's Rerun Model Works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1234440"/>
            <a:ext cx="10972800" cy="424731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85750" indent="-285750"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Char char="•"/>
              <a:defRPr sz="1800" b="0" i="0">
                <a:solidFill>
                  <a:srgbClr val="000000"/>
                </a:solidFill>
                <a:latin typeface="Arial"/>
              </a:defRPr>
            </a:pPr>
            <a:r>
              <a:rPr sz="3200" dirty="0" err="1"/>
              <a:t>Streamlit</a:t>
            </a:r>
            <a:r>
              <a:rPr sz="3200" dirty="0"/>
              <a:t> re-executes the script from top to bottom when a user interacts with a widget.</a:t>
            </a:r>
          </a:p>
          <a:p>
            <a:pPr marL="285750" indent="-285750"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Char char="•"/>
              <a:defRPr sz="1800" b="0" i="0">
                <a:solidFill>
                  <a:srgbClr val="000000"/>
                </a:solidFill>
                <a:latin typeface="Arial"/>
              </a:defRPr>
            </a:pPr>
            <a:r>
              <a:rPr sz="3200" dirty="0"/>
              <a:t>This makes the application flow easy to follow, but ordinary variables are recreated during reruns.</a:t>
            </a:r>
          </a:p>
          <a:p>
            <a:pPr marL="285750" indent="-285750"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Char char="•"/>
              <a:defRPr sz="1800" b="0" i="0">
                <a:solidFill>
                  <a:srgbClr val="000000"/>
                </a:solidFill>
                <a:latin typeface="Arial"/>
              </a:defRPr>
            </a:pPr>
            <a:r>
              <a:rPr sz="3200" dirty="0"/>
              <a:t>Values that must survive user interactions need to be stored in persistent session state.</a:t>
            </a:r>
          </a:p>
          <a:p>
            <a:pPr marL="285750" indent="-285750"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Char char="•"/>
              <a:defRPr sz="1800" b="0" i="0">
                <a:solidFill>
                  <a:srgbClr val="000000"/>
                </a:solidFill>
                <a:latin typeface="Arial"/>
              </a:defRPr>
            </a:pPr>
            <a:r>
              <a:rPr sz="3200" dirty="0"/>
              <a:t>Expensive operations should be placed carefully so they are not unnecessarily repeated on every interaction.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20040"/>
            <a:ext cx="1115568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500" b="0" i="0">
                <a:solidFill>
                  <a:srgbClr val="000000"/>
                </a:solidFill>
                <a:latin typeface="Arial"/>
              </a:defRPr>
            </a:pPr>
            <a:r>
              <a:t>Prerequisite: What Is State?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1234440"/>
            <a:ext cx="10972800" cy="424731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342900" indent="-342900"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Char char="•"/>
              <a:defRPr sz="1800" b="0" i="0">
                <a:solidFill>
                  <a:srgbClr val="000000"/>
                </a:solidFill>
                <a:latin typeface="Arial"/>
              </a:defRPr>
            </a:pPr>
            <a:r>
              <a:rPr sz="3200" dirty="0"/>
              <a:t>State is information an application keeps so it can track what has happened or what the user selected.</a:t>
            </a:r>
          </a:p>
          <a:p>
            <a:pPr marL="342900" indent="-342900"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Char char="•"/>
              <a:defRPr sz="1800" b="0" i="0">
                <a:solidFill>
                  <a:srgbClr val="000000"/>
                </a:solidFill>
                <a:latin typeface="Arial"/>
              </a:defRPr>
            </a:pPr>
            <a:r>
              <a:rPr sz="3200" dirty="0"/>
              <a:t>Examples include a counter, selected model, chat history, or an initialized model chain.</a:t>
            </a:r>
          </a:p>
          <a:p>
            <a:pPr marL="342900" indent="-342900"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Char char="•"/>
              <a:defRPr sz="1800" b="0" i="0">
                <a:solidFill>
                  <a:srgbClr val="000000"/>
                </a:solidFill>
                <a:latin typeface="Arial"/>
              </a:defRPr>
            </a:pPr>
            <a:r>
              <a:rPr sz="3200" dirty="0">
                <a:highlight>
                  <a:srgbClr val="FFFF00"/>
                </a:highlight>
              </a:rPr>
              <a:t>Without persistent state, a rerun may recreate values and lose the user's previous interaction.</a:t>
            </a:r>
          </a:p>
          <a:p>
            <a:pPr marL="342900" indent="-342900"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Char char="•"/>
              <a:defRPr sz="1800" b="0" i="0">
                <a:solidFill>
                  <a:srgbClr val="000000"/>
                </a:solidFill>
                <a:latin typeface="Arial"/>
              </a:defRPr>
            </a:pPr>
            <a:r>
              <a:rPr sz="3200" dirty="0"/>
              <a:t>Session state provides a place to keep selected values across </a:t>
            </a:r>
            <a:r>
              <a:rPr sz="3200" dirty="0" err="1"/>
              <a:t>Streamlit</a:t>
            </a:r>
            <a:r>
              <a:rPr sz="3200" dirty="0"/>
              <a:t> reruns.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20040"/>
            <a:ext cx="1115568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500" b="0" i="0">
                <a:solidFill>
                  <a:srgbClr val="000000"/>
                </a:solidFill>
                <a:latin typeface="Arial"/>
              </a:defRPr>
            </a:pPr>
            <a:r>
              <a:t>What Is st.session_state?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1234440"/>
            <a:ext cx="10972800" cy="375487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342900" indent="-342900"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Char char="•"/>
              <a:defRPr sz="1800" b="0" i="0">
                <a:solidFill>
                  <a:srgbClr val="000000"/>
                </a:solidFill>
                <a:latin typeface="Arial"/>
              </a:defRPr>
            </a:pPr>
            <a:r>
              <a:rPr sz="2800" dirty="0" err="1"/>
              <a:t>Streamlit</a:t>
            </a:r>
            <a:r>
              <a:rPr sz="2800" dirty="0"/>
              <a:t> session state is a dictionary-like store that persists values across reruns for a user's session.</a:t>
            </a:r>
          </a:p>
          <a:p>
            <a:pPr marL="342900" indent="-342900"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Char char="•"/>
              <a:defRPr sz="1800" b="0" i="0">
                <a:solidFill>
                  <a:srgbClr val="000000"/>
                </a:solidFill>
                <a:latin typeface="Arial"/>
              </a:defRPr>
            </a:pPr>
            <a:r>
              <a:rPr sz="2800" dirty="0"/>
              <a:t>Keys can hold chat messages, selected settings, counters, or an initialized chain.</a:t>
            </a:r>
          </a:p>
          <a:p>
            <a:pPr marL="342900" indent="-342900"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Char char="•"/>
              <a:defRPr sz="1800" b="0" i="0">
                <a:solidFill>
                  <a:srgbClr val="000000"/>
                </a:solidFill>
                <a:latin typeface="Arial"/>
              </a:defRPr>
            </a:pPr>
            <a:r>
              <a:rPr sz="2800" dirty="0"/>
              <a:t>Initialize values before using them and check whether a key exists when necessary.</a:t>
            </a:r>
          </a:p>
          <a:p>
            <a:pPr marL="342900" indent="-342900"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Char char="•"/>
              <a:defRPr sz="1800" b="0" i="0">
                <a:solidFill>
                  <a:srgbClr val="000000"/>
                </a:solidFill>
                <a:latin typeface="Arial"/>
              </a:defRPr>
            </a:pPr>
            <a:r>
              <a:rPr sz="2800" dirty="0"/>
              <a:t>Session state is not the same as permanent database storage; its lifetime is tied to the app session.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20040"/>
            <a:ext cx="1115568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500" b="0" i="0">
                <a:solidFill>
                  <a:srgbClr val="000000"/>
                </a:solidFill>
                <a:latin typeface="Arial"/>
              </a:defRPr>
            </a:pPr>
            <a:r>
              <a:t>Prerequisite: What Is a UI Component?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1234440"/>
            <a:ext cx="10972800" cy="375487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85750" indent="-285750"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Char char="•"/>
              <a:defRPr sz="1800" b="0" i="0">
                <a:solidFill>
                  <a:srgbClr val="000000"/>
                </a:solidFill>
                <a:latin typeface="Arial"/>
              </a:defRPr>
            </a:pPr>
            <a:r>
              <a:rPr sz="2800" dirty="0"/>
              <a:t>A UI component is a reusable element with which a user can view information or interact.</a:t>
            </a:r>
          </a:p>
          <a:p>
            <a:pPr marL="285750" indent="-285750"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Char char="•"/>
              <a:defRPr sz="1800" b="0" i="0">
                <a:solidFill>
                  <a:srgbClr val="000000"/>
                </a:solidFill>
                <a:latin typeface="Arial"/>
              </a:defRPr>
            </a:pPr>
            <a:r>
              <a:rPr sz="2800" dirty="0"/>
              <a:t>Examples include text fields, buttons, dropdowns, sliders, message bubbles, and loading indicators.</a:t>
            </a:r>
          </a:p>
          <a:p>
            <a:pPr marL="285750" indent="-285750"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Char char="•"/>
              <a:defRPr sz="1800" b="0" i="0">
                <a:solidFill>
                  <a:srgbClr val="000000"/>
                </a:solidFill>
                <a:latin typeface="Arial"/>
              </a:defRPr>
            </a:pPr>
            <a:r>
              <a:rPr sz="2800" dirty="0"/>
              <a:t>Components collect input or display output; application logic determines what happens when a user interacts with them.</a:t>
            </a:r>
          </a:p>
          <a:p>
            <a:pPr marL="285750" indent="-285750"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Char char="•"/>
              <a:defRPr sz="1800" b="0" i="0">
                <a:solidFill>
                  <a:srgbClr val="000000"/>
                </a:solidFill>
                <a:latin typeface="Arial"/>
              </a:defRPr>
            </a:pPr>
            <a:r>
              <a:rPr sz="2800" dirty="0" err="1"/>
              <a:t>Streamlit</a:t>
            </a:r>
            <a:r>
              <a:rPr sz="2800" dirty="0"/>
              <a:t> provides components that can be used directly from Python.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20040"/>
            <a:ext cx="1115568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500" b="0" i="0">
                <a:solidFill>
                  <a:srgbClr val="000000"/>
                </a:solidFill>
                <a:latin typeface="Arial"/>
              </a:defRPr>
            </a:pPr>
            <a:r>
              <a:t>Core Streamlit Components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1234440"/>
            <a:ext cx="10972800" cy="342657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457200" indent="-457200"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Char char="•"/>
              <a:defRPr sz="1800" b="0" i="0">
                <a:solidFill>
                  <a:srgbClr val="000000"/>
                </a:solidFill>
                <a:latin typeface="Arial"/>
              </a:defRPr>
            </a:pPr>
            <a:r>
              <a:rPr sz="2800" dirty="0"/>
              <a:t>Title and text components display headings and content.</a:t>
            </a:r>
          </a:p>
          <a:p>
            <a:pPr marL="457200" indent="-457200"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Char char="•"/>
              <a:defRPr sz="1800" b="0" i="0">
                <a:solidFill>
                  <a:srgbClr val="000000"/>
                </a:solidFill>
                <a:latin typeface="Arial"/>
              </a:defRPr>
            </a:pPr>
            <a:r>
              <a:rPr sz="2800" dirty="0"/>
              <a:t>Text inputs and text areas collect short or longer user input.</a:t>
            </a:r>
          </a:p>
          <a:p>
            <a:pPr marL="457200" indent="-457200"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Char char="•"/>
              <a:defRPr sz="1800" b="0" i="0">
                <a:solidFill>
                  <a:srgbClr val="000000"/>
                </a:solidFill>
                <a:latin typeface="Arial"/>
              </a:defRPr>
            </a:pPr>
            <a:r>
              <a:rPr sz="2800" dirty="0"/>
              <a:t>Buttons trigger actions when clicked; selectors and sliders let users choose settings.</a:t>
            </a:r>
          </a:p>
          <a:p>
            <a:pPr marL="457200" indent="-457200"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Char char="•"/>
              <a:defRPr sz="1800" b="0" i="0">
                <a:solidFill>
                  <a:srgbClr val="000000"/>
                </a:solidFill>
                <a:latin typeface="Arial"/>
              </a:defRPr>
            </a:pPr>
            <a:r>
              <a:rPr sz="2800" dirty="0"/>
              <a:t>The sidebar groups controls separately from the main page.</a:t>
            </a:r>
          </a:p>
          <a:p>
            <a:pPr marL="457200" indent="-457200"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Char char="•"/>
              <a:defRPr sz="1800" b="0" i="0">
                <a:solidFill>
                  <a:srgbClr val="000000"/>
                </a:solidFill>
                <a:latin typeface="Arial"/>
              </a:defRPr>
            </a:pPr>
            <a:r>
              <a:rPr sz="2800" dirty="0"/>
              <a:t>Warnings, success messages, and spinners communicate validation status and progress.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20040"/>
            <a:ext cx="1115568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500" b="0" i="0">
                <a:solidFill>
                  <a:srgbClr val="000000"/>
                </a:solidFill>
                <a:latin typeface="Arial"/>
              </a:defRPr>
            </a:pPr>
            <a:r>
              <a:t>Streamlit Chat Components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1234440"/>
            <a:ext cx="10972800" cy="428835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85750" indent="-285750"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Char char="•"/>
              <a:defRPr sz="1800" b="0" i="0">
                <a:solidFill>
                  <a:srgbClr val="000000"/>
                </a:solidFill>
                <a:latin typeface="Arial"/>
              </a:defRPr>
            </a:pPr>
            <a:r>
              <a:rPr sz="2800" dirty="0"/>
              <a:t>Chat input provides a dedicated field for submitting a message.</a:t>
            </a:r>
          </a:p>
          <a:p>
            <a:pPr marL="285750" indent="-285750"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Char char="•"/>
              <a:defRPr sz="1800" b="0" i="0">
                <a:solidFill>
                  <a:srgbClr val="000000"/>
                </a:solidFill>
                <a:latin typeface="Arial"/>
              </a:defRPr>
            </a:pPr>
            <a:r>
              <a:rPr sz="2800" dirty="0"/>
              <a:t>Chat message displays a message bubble associated with a role, commonly user or assistant.</a:t>
            </a:r>
          </a:p>
          <a:p>
            <a:pPr marL="285750" indent="-285750"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Char char="•"/>
              <a:defRPr sz="1800" b="0" i="0">
                <a:solidFill>
                  <a:srgbClr val="000000"/>
                </a:solidFill>
                <a:latin typeface="Arial"/>
              </a:defRPr>
            </a:pPr>
            <a:r>
              <a:rPr sz="2800" dirty="0"/>
              <a:t>An application stores messages in a list and renders the history on each rerun.</a:t>
            </a:r>
          </a:p>
          <a:p>
            <a:pPr marL="285750" indent="-285750"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Char char="•"/>
              <a:defRPr sz="1800" b="0" i="0">
                <a:solidFill>
                  <a:srgbClr val="000000"/>
                </a:solidFill>
                <a:latin typeface="Arial"/>
              </a:defRPr>
            </a:pPr>
            <a:r>
              <a:rPr sz="2800" dirty="0"/>
              <a:t>New messages are added to the history so the conversation remains visible.</a:t>
            </a:r>
          </a:p>
          <a:p>
            <a:pPr marL="285750" indent="-285750"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Char char="•"/>
              <a:defRPr sz="1800" b="0" i="0">
                <a:solidFill>
                  <a:srgbClr val="000000"/>
                </a:solidFill>
                <a:latin typeface="Arial"/>
              </a:defRPr>
            </a:pPr>
            <a:r>
              <a:rPr sz="2800" dirty="0"/>
              <a:t>Displaying history and maintaining the model's conversational memory are related but separate responsibilities.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20040"/>
            <a:ext cx="1115568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500" b="0" i="0">
                <a:solidFill>
                  <a:srgbClr val="000000"/>
                </a:solidFill>
                <a:latin typeface="Arial"/>
              </a:defRPr>
            </a:pPr>
            <a:r>
              <a:rPr dirty="0"/>
              <a:t>Prerequisite: What Is a System Prompt?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1234440"/>
            <a:ext cx="10972800" cy="32624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342900" indent="-342900"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Char char="•"/>
              <a:defRPr sz="1800" b="0" i="0">
                <a:solidFill>
                  <a:srgbClr val="000000"/>
                </a:solidFill>
                <a:latin typeface="Arial"/>
              </a:defRPr>
            </a:pPr>
            <a:r>
              <a:rPr sz="2400" dirty="0"/>
              <a:t>A system prompt gives the </a:t>
            </a:r>
            <a:r>
              <a:rPr sz="2400" dirty="0">
                <a:highlight>
                  <a:srgbClr val="FFFF00"/>
                </a:highlight>
              </a:rPr>
              <a:t>model instructions </a:t>
            </a:r>
            <a:r>
              <a:rPr sz="2400" dirty="0"/>
              <a:t>about its intended role, tone, rules, and scope.</a:t>
            </a:r>
          </a:p>
          <a:p>
            <a:pPr marL="342900" indent="-342900"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Char char="•"/>
              <a:defRPr sz="1800" b="0" i="0">
                <a:solidFill>
                  <a:srgbClr val="000000"/>
                </a:solidFill>
                <a:latin typeface="Arial"/>
              </a:defRPr>
            </a:pPr>
            <a:r>
              <a:rPr sz="2400" dirty="0"/>
              <a:t>It is typically supplied by the application rather than typed as the user's message.</a:t>
            </a:r>
          </a:p>
          <a:p>
            <a:pPr marL="342900" indent="-342900"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Char char="•"/>
              <a:defRPr sz="1800" b="0" i="0">
                <a:solidFill>
                  <a:srgbClr val="000000"/>
                </a:solidFill>
                <a:latin typeface="Arial"/>
              </a:defRPr>
            </a:pPr>
            <a:r>
              <a:rPr sz="2400" dirty="0"/>
              <a:t>A configurable system prompt lets an application adjust the chatbot's behavior without rewriting its whole interface.</a:t>
            </a:r>
          </a:p>
          <a:p>
            <a:pPr marL="342900" indent="-342900"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Char char="•"/>
              <a:defRPr sz="1800" b="0" i="0">
                <a:solidFill>
                  <a:srgbClr val="000000"/>
                </a:solidFill>
                <a:latin typeface="Arial"/>
              </a:defRPr>
            </a:pPr>
            <a:r>
              <a:rPr sz="2400" dirty="0"/>
              <a:t>Instructions guide behavior but do not guarantee perfect compliance or provide a security boundary by themselves.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20040"/>
            <a:ext cx="1115568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500" b="0" i="0">
                <a:solidFill>
                  <a:srgbClr val="000000"/>
                </a:solidFill>
                <a:latin typeface="Arial"/>
              </a:defRPr>
            </a:pPr>
            <a:r>
              <a:t>Understanding the Chatbot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1234440"/>
            <a:ext cx="10972800" cy="5257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800"/>
              </a:spcAft>
              <a:defRPr sz="1800" b="0" i="0">
                <a:solidFill>
                  <a:srgbClr val="000000"/>
                </a:solidFill>
                <a:latin typeface="Arial"/>
              </a:defRPr>
            </a:pPr>
            <a:r>
              <a:rPr dirty="0"/>
              <a:t>Configuration: a local environment file holds the provider credential.</a:t>
            </a:r>
          </a:p>
          <a:p>
            <a:pPr>
              <a:spcBef>
                <a:spcPts val="0"/>
              </a:spcBef>
              <a:spcAft>
                <a:spcPts val="800"/>
              </a:spcAft>
              <a:defRPr sz="1800" b="0" i="0">
                <a:solidFill>
                  <a:srgbClr val="000000"/>
                </a:solidFill>
                <a:latin typeface="Arial"/>
              </a:defRPr>
            </a:pPr>
            <a:r>
              <a:rPr dirty="0"/>
              <a:t>Model layer: a </a:t>
            </a:r>
            <a:r>
              <a:rPr dirty="0" err="1"/>
              <a:t>LangChain</a:t>
            </a:r>
            <a:r>
              <a:rPr dirty="0"/>
              <a:t> integration connects the application to Gemini or </a:t>
            </a:r>
            <a:r>
              <a:rPr dirty="0" err="1"/>
              <a:t>Ollama</a:t>
            </a:r>
            <a:r>
              <a:rPr dirty="0"/>
              <a:t>.</a:t>
            </a:r>
          </a:p>
          <a:p>
            <a:pPr>
              <a:spcBef>
                <a:spcPts val="0"/>
              </a:spcBef>
              <a:spcAft>
                <a:spcPts val="800"/>
              </a:spcAft>
              <a:defRPr sz="1800" b="0" i="0">
                <a:solidFill>
                  <a:srgbClr val="000000"/>
                </a:solidFill>
                <a:latin typeface="Arial"/>
              </a:defRPr>
            </a:pPr>
            <a:r>
              <a:rPr dirty="0"/>
              <a:t>Conversation layer: a chain coordinates model calls and memory.</a:t>
            </a:r>
          </a:p>
          <a:p>
            <a:pPr>
              <a:spcBef>
                <a:spcPts val="0"/>
              </a:spcBef>
              <a:spcAft>
                <a:spcPts val="800"/>
              </a:spcAft>
              <a:defRPr sz="1800" b="0" i="0">
                <a:solidFill>
                  <a:srgbClr val="000000"/>
                </a:solidFill>
                <a:latin typeface="Arial"/>
              </a:defRPr>
            </a:pPr>
            <a:r>
              <a:rPr dirty="0"/>
              <a:t>State layer: </a:t>
            </a:r>
            <a:r>
              <a:rPr dirty="0" err="1"/>
              <a:t>Streamlit</a:t>
            </a:r>
            <a:r>
              <a:rPr dirty="0"/>
              <a:t> session state retains the chain and the messages used by the interface.</a:t>
            </a:r>
          </a:p>
          <a:p>
            <a:pPr>
              <a:spcBef>
                <a:spcPts val="0"/>
              </a:spcBef>
              <a:spcAft>
                <a:spcPts val="800"/>
              </a:spcAft>
              <a:defRPr sz="1800" b="0" i="0">
                <a:solidFill>
                  <a:srgbClr val="000000"/>
                </a:solidFill>
                <a:latin typeface="Arial"/>
              </a:defRPr>
            </a:pPr>
            <a:r>
              <a:rPr dirty="0"/>
              <a:t>UI layer: chat input collects user messages and chat components display replies.</a:t>
            </a:r>
          </a:p>
          <a:p>
            <a:pPr>
              <a:spcBef>
                <a:spcPts val="0"/>
              </a:spcBef>
              <a:spcAft>
                <a:spcPts val="800"/>
              </a:spcAft>
              <a:defRPr sz="1800" b="0" i="0">
                <a:solidFill>
                  <a:srgbClr val="000000"/>
                </a:solidFill>
                <a:latin typeface="Arial"/>
              </a:defRPr>
            </a:pPr>
            <a:r>
              <a:rPr dirty="0"/>
              <a:t>Flow: user input → chain → model response → update history/state → </a:t>
            </a:r>
            <a:r>
              <a:rPr dirty="0" err="1"/>
              <a:t>rerender</a:t>
            </a:r>
            <a:r>
              <a:rPr dirty="0"/>
              <a:t> interface.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20040"/>
            <a:ext cx="1115568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500" b="0" i="0">
                <a:solidFill>
                  <a:srgbClr val="000000"/>
                </a:solidFill>
                <a:latin typeface="Arial"/>
              </a:defRPr>
            </a:pPr>
            <a:r>
              <a:t>Why Initialize the Chain Once?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1234440"/>
            <a:ext cx="10972800" cy="32624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85750" indent="-285750"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Char char="•"/>
              <a:defRPr sz="1800" b="0" i="0">
                <a:solidFill>
                  <a:srgbClr val="000000"/>
                </a:solidFill>
                <a:latin typeface="Arial"/>
              </a:defRPr>
            </a:pPr>
            <a:r>
              <a:rPr sz="2400" dirty="0"/>
              <a:t>Creating a model integration and conversation memory repeatedly can reset the conversation context.</a:t>
            </a:r>
          </a:p>
          <a:p>
            <a:pPr marL="285750" indent="-285750"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Char char="•"/>
              <a:defRPr sz="1800" b="0" i="0">
                <a:solidFill>
                  <a:srgbClr val="000000"/>
                </a:solidFill>
                <a:latin typeface="Arial"/>
              </a:defRPr>
            </a:pPr>
            <a:r>
              <a:rPr sz="2400" dirty="0" err="1"/>
              <a:t>Streamlit</a:t>
            </a:r>
            <a:r>
              <a:rPr sz="2400" dirty="0"/>
              <a:t> reruns the script on each interaction, so a chain created as a fresh local variable may not persist.</a:t>
            </a:r>
          </a:p>
          <a:p>
            <a:pPr marL="285750" indent="-285750"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Char char="•"/>
              <a:defRPr sz="1800" b="0" i="0">
                <a:solidFill>
                  <a:srgbClr val="000000"/>
                </a:solidFill>
                <a:latin typeface="Arial"/>
              </a:defRPr>
            </a:pPr>
            <a:r>
              <a:rPr sz="2400" dirty="0"/>
              <a:t>Keeping the chain in session state lets the same chain and its memory be reused during the session.</a:t>
            </a:r>
          </a:p>
          <a:p>
            <a:pPr marL="285750" indent="-285750"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Char char="•"/>
              <a:defRPr sz="1800" b="0" i="0">
                <a:solidFill>
                  <a:srgbClr val="000000"/>
                </a:solidFill>
                <a:latin typeface="Arial"/>
              </a:defRPr>
            </a:pPr>
            <a:r>
              <a:rPr sz="2400" dirty="0"/>
              <a:t>Conversation display history can be stored separately from the memory used to construct model prompts.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20040"/>
            <a:ext cx="1115568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500" b="0" i="0">
                <a:solidFill>
                  <a:srgbClr val="000000"/>
                </a:solidFill>
                <a:latin typeface="Arial"/>
              </a:defRPr>
            </a:pPr>
            <a:r>
              <a:t>Prerequisite: What Is Error Handling?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1234440"/>
            <a:ext cx="10972800" cy="5257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800"/>
              </a:spcAft>
              <a:defRPr sz="1800" b="0" i="0">
                <a:solidFill>
                  <a:srgbClr val="000000"/>
                </a:solidFill>
                <a:latin typeface="Arial"/>
              </a:defRPr>
            </a:pPr>
            <a:r>
              <a:t>External services can fail because of network issues, invalid credentials, rate limits, or unexpected responses.</a:t>
            </a:r>
          </a:p>
          <a:p>
            <a:pPr>
              <a:spcBef>
                <a:spcPts val="0"/>
              </a:spcBef>
              <a:spcAft>
                <a:spcPts val="800"/>
              </a:spcAft>
              <a:defRPr sz="1800" b="0" i="0">
                <a:solidFill>
                  <a:srgbClr val="000000"/>
                </a:solidFill>
                <a:latin typeface="Arial"/>
              </a:defRPr>
            </a:pPr>
            <a:r>
              <a:t>Error handling lets an application respond deliberately instead of crashing or showing an unclear failure.</a:t>
            </a:r>
          </a:p>
          <a:p>
            <a:pPr>
              <a:spcBef>
                <a:spcPts val="0"/>
              </a:spcBef>
              <a:spcAft>
                <a:spcPts val="800"/>
              </a:spcAft>
              <a:defRPr sz="1800" b="0" i="0">
                <a:solidFill>
                  <a:srgbClr val="000000"/>
                </a:solidFill>
                <a:latin typeface="Arial"/>
              </a:defRPr>
            </a:pPr>
            <a:r>
              <a:t>A chatbot can display a helpful message when a model request fails.</a:t>
            </a:r>
          </a:p>
          <a:p>
            <a:pPr>
              <a:spcBef>
                <a:spcPts val="0"/>
              </a:spcBef>
              <a:spcAft>
                <a:spcPts val="800"/>
              </a:spcAft>
              <a:defRPr sz="1800" b="0" i="0">
                <a:solidFill>
                  <a:srgbClr val="000000"/>
                </a:solidFill>
                <a:latin typeface="Arial"/>
              </a:defRPr>
            </a:pPr>
            <a:r>
              <a:t>Do not expose secrets or sensitive internal details in user-facing errors.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20040"/>
            <a:ext cx="1115568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500" b="0" i="0">
                <a:solidFill>
                  <a:srgbClr val="000000"/>
                </a:solidFill>
                <a:latin typeface="Arial"/>
              </a:defRPr>
            </a:pPr>
            <a:r>
              <a:t>Common Chatbot Failure Points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1234440"/>
            <a:ext cx="10972800" cy="5257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800"/>
              </a:spcAft>
              <a:defRPr sz="1800" b="0" i="0">
                <a:solidFill>
                  <a:srgbClr val="000000"/>
                </a:solidFill>
                <a:latin typeface="Arial"/>
              </a:defRPr>
            </a:pPr>
            <a:r>
              <a:t>Bot forgets earlier turns: check whether the chain and memory persist across reruns.</a:t>
            </a:r>
          </a:p>
          <a:p>
            <a:pPr>
              <a:spcBef>
                <a:spcPts val="0"/>
              </a:spcBef>
              <a:spcAft>
                <a:spcPts val="800"/>
              </a:spcAft>
              <a:defRPr sz="1800" b="0" i="0">
                <a:solidFill>
                  <a:srgbClr val="000000"/>
                </a:solidFill>
                <a:latin typeface="Arial"/>
              </a:defRPr>
            </a:pPr>
            <a:r>
              <a:t>Credential error: verify that the environment configuration is present and loaded.</a:t>
            </a:r>
          </a:p>
          <a:p>
            <a:pPr>
              <a:spcBef>
                <a:spcPts val="0"/>
              </a:spcBef>
              <a:spcAft>
                <a:spcPts val="800"/>
              </a:spcAft>
              <a:defRPr sz="1800" b="0" i="0">
                <a:solidFill>
                  <a:srgbClr val="000000"/>
                </a:solidFill>
                <a:latin typeface="Arial"/>
              </a:defRPr>
            </a:pPr>
            <a:r>
              <a:t>Messages disappear: retain display history in session state.</a:t>
            </a:r>
          </a:p>
          <a:p>
            <a:pPr>
              <a:spcBef>
                <a:spcPts val="0"/>
              </a:spcBef>
              <a:spcAft>
                <a:spcPts val="800"/>
              </a:spcAft>
              <a:defRPr sz="1800" b="0" i="0">
                <a:solidFill>
                  <a:srgbClr val="000000"/>
                </a:solidFill>
                <a:latin typeface="Arial"/>
              </a:defRPr>
            </a:pPr>
            <a:r>
              <a:t>Input component is missing: review where it is placed in the Streamlit script.</a:t>
            </a:r>
          </a:p>
          <a:p>
            <a:pPr>
              <a:spcBef>
                <a:spcPts val="0"/>
              </a:spcBef>
              <a:spcAft>
                <a:spcPts val="800"/>
              </a:spcAft>
              <a:defRPr sz="1800" b="0" i="0">
                <a:solidFill>
                  <a:srgbClr val="000000"/>
                </a:solidFill>
                <a:latin typeface="Arial"/>
              </a:defRPr>
            </a:pPr>
            <a:r>
              <a:t>Quota or network failure: handle exceptions and display an appropriate message.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20040"/>
            <a:ext cx="1115568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500" b="0" i="0">
                <a:solidFill>
                  <a:srgbClr val="000000"/>
                </a:solidFill>
                <a:latin typeface="Arial"/>
              </a:defRPr>
            </a:pPr>
            <a:r>
              <a:t>Prerequisite: What Is a Dependency?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1234440"/>
            <a:ext cx="10972800" cy="5257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800"/>
              </a:spcAft>
              <a:defRPr sz="1800" b="0" i="0">
                <a:solidFill>
                  <a:srgbClr val="000000"/>
                </a:solidFill>
                <a:latin typeface="Arial"/>
              </a:defRPr>
            </a:pPr>
            <a:r>
              <a:t>A dependency is a library or package that an application needs in order to run.</a:t>
            </a:r>
          </a:p>
          <a:p>
            <a:pPr>
              <a:spcBef>
                <a:spcPts val="0"/>
              </a:spcBef>
              <a:spcAft>
                <a:spcPts val="800"/>
              </a:spcAft>
              <a:defRPr sz="1800" b="0" i="0">
                <a:solidFill>
                  <a:srgbClr val="000000"/>
                </a:solidFill>
                <a:latin typeface="Arial"/>
              </a:defRPr>
            </a:pPr>
            <a:r>
              <a:t>Python projects often rely on packages for web interfaces, model integrations, configuration, and other features.</a:t>
            </a:r>
          </a:p>
          <a:p>
            <a:pPr>
              <a:spcBef>
                <a:spcPts val="0"/>
              </a:spcBef>
              <a:spcAft>
                <a:spcPts val="800"/>
              </a:spcAft>
              <a:defRPr sz="1800" b="0" i="0">
                <a:solidFill>
                  <a:srgbClr val="000000"/>
                </a:solidFill>
                <a:latin typeface="Arial"/>
              </a:defRPr>
            </a:pPr>
            <a:r>
              <a:t>Different versions of a package may behave differently or introduce breaking changes.</a:t>
            </a:r>
          </a:p>
          <a:p>
            <a:pPr>
              <a:spcBef>
                <a:spcPts val="0"/>
              </a:spcBef>
              <a:spcAft>
                <a:spcPts val="800"/>
              </a:spcAft>
              <a:defRPr sz="1800" b="0" i="0">
                <a:solidFill>
                  <a:srgbClr val="000000"/>
                </a:solidFill>
                <a:latin typeface="Arial"/>
              </a:defRPr>
            </a:pPr>
            <a:r>
              <a:t>A dependency list helps another developer recreate the environment needed by the application.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20040"/>
            <a:ext cx="1115568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500" b="0" i="0">
                <a:solidFill>
                  <a:srgbClr val="000000"/>
                </a:solidFill>
                <a:latin typeface="Arial"/>
              </a:defRPr>
            </a:pPr>
            <a:r>
              <a:t>What Is requirements.txt?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1234440"/>
            <a:ext cx="10972800" cy="25237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342900" indent="-342900"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Char char="•"/>
              <a:defRPr sz="1800" b="0" i="0">
                <a:solidFill>
                  <a:srgbClr val="000000"/>
                </a:solidFill>
                <a:latin typeface="Arial"/>
              </a:defRPr>
            </a:pPr>
            <a:r>
              <a:rPr sz="2400" dirty="0"/>
              <a:t>requirements.txt records the Python packages needed by a project and may specify version constraints.</a:t>
            </a:r>
          </a:p>
          <a:p>
            <a:pPr marL="342900" indent="-342900"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Char char="•"/>
              <a:defRPr sz="1800" b="0" i="0">
                <a:solidFill>
                  <a:srgbClr val="000000"/>
                </a:solidFill>
                <a:latin typeface="Arial"/>
              </a:defRPr>
            </a:pPr>
            <a:r>
              <a:rPr sz="2400" dirty="0"/>
              <a:t>It gives developers a repeatable way to install the application's dependencies.</a:t>
            </a:r>
          </a:p>
          <a:p>
            <a:pPr marL="342900" indent="-342900"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Char char="•"/>
              <a:defRPr sz="1800" b="0" i="0">
                <a:solidFill>
                  <a:srgbClr val="000000"/>
                </a:solidFill>
                <a:latin typeface="Arial"/>
              </a:defRPr>
            </a:pPr>
            <a:r>
              <a:rPr sz="2400" dirty="0"/>
              <a:t>Version constraints help manage compatibility, but should be chosen and maintained deliberately.</a:t>
            </a:r>
          </a:p>
          <a:p>
            <a:pPr marL="342900" indent="-342900"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Char char="•"/>
              <a:defRPr sz="1800" b="0" i="0">
                <a:solidFill>
                  <a:srgbClr val="000000"/>
                </a:solidFill>
                <a:latin typeface="Arial"/>
              </a:defRPr>
            </a:pPr>
            <a:r>
              <a:rPr sz="2400" dirty="0"/>
              <a:t>Credentials belong in secure configuration, not in the dependency list.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20040"/>
            <a:ext cx="1115568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500" b="0" i="0">
                <a:solidFill>
                  <a:srgbClr val="000000"/>
                </a:solidFill>
                <a:latin typeface="Arial"/>
              </a:defRPr>
            </a:pPr>
            <a:r>
              <a:t>Local Chatbot vs Cloud Chatbot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1234440"/>
            <a:ext cx="10972800" cy="5257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800"/>
              </a:spcAft>
              <a:defRPr sz="1800" b="0" i="0">
                <a:solidFill>
                  <a:srgbClr val="000000"/>
                </a:solidFill>
                <a:latin typeface="Arial"/>
              </a:defRPr>
            </a:pPr>
            <a:r>
              <a:t>Local chatbot: the model runs on the computer through Ollama; no cloud model API key is needed for inference.</a:t>
            </a:r>
          </a:p>
          <a:p>
            <a:pPr>
              <a:spcBef>
                <a:spcPts val="0"/>
              </a:spcBef>
              <a:spcAft>
                <a:spcPts val="800"/>
              </a:spcAft>
              <a:defRPr sz="1800" b="0" i="0">
                <a:solidFill>
                  <a:srgbClr val="000000"/>
                </a:solidFill>
                <a:latin typeface="Arial"/>
              </a:defRPr>
            </a:pPr>
            <a:r>
              <a:t>Cloud chatbot: requests are sent to Gemini's hosted model service and generally require credentials and internet access.</a:t>
            </a:r>
          </a:p>
          <a:p>
            <a:pPr>
              <a:spcBef>
                <a:spcPts val="0"/>
              </a:spcBef>
              <a:spcAft>
                <a:spcPts val="800"/>
              </a:spcAft>
              <a:defRPr sz="1800" b="0" i="0">
                <a:solidFill>
                  <a:srgbClr val="000000"/>
                </a:solidFill>
                <a:latin typeface="Arial"/>
              </a:defRPr>
            </a:pPr>
            <a:r>
              <a:t>The UI and broad application architecture can remain similar while the model integration changes.</a:t>
            </a:r>
          </a:p>
          <a:p>
            <a:pPr>
              <a:spcBef>
                <a:spcPts val="0"/>
              </a:spcBef>
              <a:spcAft>
                <a:spcPts val="800"/>
              </a:spcAft>
              <a:defRPr sz="1800" b="0" i="0">
                <a:solidFill>
                  <a:srgbClr val="000000"/>
                </a:solidFill>
                <a:latin typeface="Arial"/>
              </a:defRPr>
            </a:pPr>
            <a:r>
              <a:t>Trade-offs include model capability, hardware, privacy requirements, cost, latency, and operational constraints.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20040"/>
            <a:ext cx="1115568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500" b="0" i="0">
                <a:solidFill>
                  <a:srgbClr val="000000"/>
                </a:solidFill>
                <a:latin typeface="Arial"/>
              </a:defRPr>
            </a:pPr>
            <a:r>
              <a:t>Putting the Concepts Together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1234440"/>
            <a:ext cx="10972800" cy="5257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800"/>
              </a:spcAft>
              <a:defRPr sz="1800" b="0" i="0">
                <a:solidFill>
                  <a:srgbClr val="000000"/>
                </a:solidFill>
                <a:latin typeface="Arial"/>
              </a:defRPr>
            </a:pPr>
            <a:r>
              <a:t>1. The user enters a message in the Streamlit chat interface.</a:t>
            </a:r>
          </a:p>
          <a:p>
            <a:pPr>
              <a:spcBef>
                <a:spcPts val="0"/>
              </a:spcBef>
              <a:spcAft>
                <a:spcPts val="800"/>
              </a:spcAft>
              <a:defRPr sz="1800" b="0" i="0">
                <a:solidFill>
                  <a:srgbClr val="000000"/>
                </a:solidFill>
                <a:latin typeface="Arial"/>
              </a:defRPr>
            </a:pPr>
            <a:r>
              <a:t>2. The application retrieves the persistent chain from session state.</a:t>
            </a:r>
          </a:p>
          <a:p>
            <a:pPr>
              <a:spcBef>
                <a:spcPts val="0"/>
              </a:spcBef>
              <a:spcAft>
                <a:spcPts val="800"/>
              </a:spcAft>
              <a:defRPr sz="1800" b="0" i="0">
                <a:solidFill>
                  <a:srgbClr val="000000"/>
                </a:solidFill>
                <a:latin typeface="Arial"/>
              </a:defRPr>
            </a:pPr>
            <a:r>
              <a:t>3. The chain combines instructions and relevant conversation history.</a:t>
            </a:r>
          </a:p>
          <a:p>
            <a:pPr>
              <a:spcBef>
                <a:spcPts val="0"/>
              </a:spcBef>
              <a:spcAft>
                <a:spcPts val="800"/>
              </a:spcAft>
              <a:defRPr sz="1800" b="0" i="0">
                <a:solidFill>
                  <a:srgbClr val="000000"/>
                </a:solidFill>
                <a:latin typeface="Arial"/>
              </a:defRPr>
            </a:pPr>
            <a:r>
              <a:t>4. The selected model generates a response.</a:t>
            </a:r>
          </a:p>
          <a:p>
            <a:pPr>
              <a:spcBef>
                <a:spcPts val="0"/>
              </a:spcBef>
              <a:spcAft>
                <a:spcPts val="800"/>
              </a:spcAft>
              <a:defRPr sz="1800" b="0" i="0">
                <a:solidFill>
                  <a:srgbClr val="000000"/>
                </a:solidFill>
                <a:latin typeface="Arial"/>
              </a:defRPr>
            </a:pPr>
            <a:r>
              <a:t>5. The application saves the user message and assistant response.</a:t>
            </a:r>
          </a:p>
          <a:p>
            <a:pPr>
              <a:spcBef>
                <a:spcPts val="0"/>
              </a:spcBef>
              <a:spcAft>
                <a:spcPts val="800"/>
              </a:spcAft>
              <a:defRPr sz="1800" b="0" i="0">
                <a:solidFill>
                  <a:srgbClr val="000000"/>
                </a:solidFill>
                <a:latin typeface="Arial"/>
              </a:defRPr>
            </a:pPr>
            <a:r>
              <a:t>6. Streamlit reruns and renders the updated conversation history.</a:t>
            </a:r>
          </a:p>
          <a:p>
            <a:pPr>
              <a:spcBef>
                <a:spcPts val="0"/>
              </a:spcBef>
              <a:spcAft>
                <a:spcPts val="800"/>
              </a:spcAft>
              <a:defRPr sz="1800" b="0" i="0">
                <a:solidFill>
                  <a:srgbClr val="000000"/>
                </a:solidFill>
                <a:latin typeface="Arial"/>
              </a:defRPr>
            </a:pPr>
            <a:r>
              <a:t>7. Errors are handled so a failed request does not silently break the interaction.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20040"/>
            <a:ext cx="1115568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500" b="0" i="0">
                <a:solidFill>
                  <a:srgbClr val="000000"/>
                </a:solidFill>
                <a:latin typeface="Arial"/>
              </a:defRPr>
            </a:pPr>
            <a:r>
              <a:t>Key Takeaways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1234440"/>
            <a:ext cx="10972800" cy="5257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800"/>
              </a:spcAft>
              <a:defRPr sz="1800" b="0" i="0">
                <a:solidFill>
                  <a:srgbClr val="000000"/>
                </a:solidFill>
                <a:latin typeface="Arial"/>
              </a:defRPr>
            </a:pPr>
            <a:r>
              <a:t>LangChain organizes model calls, prompts, chains, memory, and tools into reusable components.</a:t>
            </a:r>
          </a:p>
          <a:p>
            <a:pPr>
              <a:spcBef>
                <a:spcPts val="0"/>
              </a:spcBef>
              <a:spcAft>
                <a:spcPts val="800"/>
              </a:spcAft>
              <a:defRPr sz="1800" b="0" i="0">
                <a:solidFill>
                  <a:srgbClr val="000000"/>
                </a:solidFill>
                <a:latin typeface="Arial"/>
              </a:defRPr>
            </a:pPr>
            <a:r>
              <a:t>LCEL composes steps into a pipeline; invocation runs that pipeline with the supplied input.</a:t>
            </a:r>
          </a:p>
          <a:p>
            <a:pPr>
              <a:spcBef>
                <a:spcPts val="0"/>
              </a:spcBef>
              <a:spcAft>
                <a:spcPts val="800"/>
              </a:spcAft>
              <a:defRPr sz="1800" b="0" i="0">
                <a:solidFill>
                  <a:srgbClr val="000000"/>
                </a:solidFill>
                <a:latin typeface="Arial"/>
              </a:defRPr>
            </a:pPr>
            <a:r>
              <a:t>Conversation memory supplies earlier context; buffer and summary approaches trade detail for context size.</a:t>
            </a:r>
          </a:p>
          <a:p>
            <a:pPr>
              <a:spcBef>
                <a:spcPts val="0"/>
              </a:spcBef>
              <a:spcAft>
                <a:spcPts val="800"/>
              </a:spcAft>
              <a:defRPr sz="1800" b="0" i="0">
                <a:solidFill>
                  <a:srgbClr val="000000"/>
                </a:solidFill>
                <a:latin typeface="Arial"/>
              </a:defRPr>
            </a:pPr>
            <a:r>
              <a:t>Streamlit reruns scripts after interactions, so session state is important for persistent values.</a:t>
            </a:r>
          </a:p>
          <a:p>
            <a:pPr>
              <a:spcBef>
                <a:spcPts val="0"/>
              </a:spcBef>
              <a:spcAft>
                <a:spcPts val="800"/>
              </a:spcAft>
              <a:defRPr sz="1800" b="0" i="0">
                <a:solidFill>
                  <a:srgbClr val="000000"/>
                </a:solidFill>
                <a:latin typeface="Arial"/>
              </a:defRPr>
            </a:pPr>
            <a:r>
              <a:t>Chat display history and model conversation memory are distinct parts of a chatbot.</a:t>
            </a:r>
          </a:p>
          <a:p>
            <a:pPr>
              <a:spcBef>
                <a:spcPts val="0"/>
              </a:spcBef>
              <a:spcAft>
                <a:spcPts val="800"/>
              </a:spcAft>
              <a:defRPr sz="1800" b="0" i="0">
                <a:solidFill>
                  <a:srgbClr val="000000"/>
                </a:solidFill>
                <a:latin typeface="Arial"/>
              </a:defRPr>
            </a:pPr>
            <a:r>
              <a:t>Configuration, dependency management, and error handling are part of a reliable application.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20040"/>
            <a:ext cx="1115568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500" b="0" i="0">
                <a:solidFill>
                  <a:srgbClr val="000000"/>
                </a:solidFill>
                <a:latin typeface="Arial"/>
              </a:defRPr>
            </a:pPr>
            <a:r>
              <a:t>Review Questions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1234440"/>
            <a:ext cx="10972800" cy="5257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800"/>
              </a:spcAft>
              <a:defRPr sz="1800" b="0" i="0">
                <a:solidFill>
                  <a:srgbClr val="000000"/>
                </a:solidFill>
                <a:latin typeface="Arial"/>
              </a:defRPr>
            </a:pPr>
            <a:r>
              <a:t>What does LangChain add around an LLM?</a:t>
            </a:r>
          </a:p>
          <a:p>
            <a:pPr>
              <a:spcBef>
                <a:spcPts val="0"/>
              </a:spcBef>
              <a:spcAft>
                <a:spcPts val="800"/>
              </a:spcAft>
              <a:defRPr sz="1800" b="0" i="0">
                <a:solidFill>
                  <a:srgbClr val="000000"/>
                </a:solidFill>
                <a:latin typeface="Arial"/>
              </a:defRPr>
            </a:pPr>
            <a:r>
              <a:t>What is the purpose of the LCEL pipe operator?</a:t>
            </a:r>
          </a:p>
          <a:p>
            <a:pPr>
              <a:spcBef>
                <a:spcPts val="0"/>
              </a:spcBef>
              <a:spcAft>
                <a:spcPts val="800"/>
              </a:spcAft>
              <a:defRPr sz="1800" b="0" i="0">
                <a:solidFill>
                  <a:srgbClr val="000000"/>
                </a:solidFill>
                <a:latin typeface="Arial"/>
              </a:defRPr>
            </a:pPr>
            <a:r>
              <a:t>How does conversation memory help a chatbot respond to follow-up questions?</a:t>
            </a:r>
          </a:p>
          <a:p>
            <a:pPr>
              <a:spcBef>
                <a:spcPts val="0"/>
              </a:spcBef>
              <a:spcAft>
                <a:spcPts val="800"/>
              </a:spcAft>
              <a:defRPr sz="1800" b="0" i="0">
                <a:solidFill>
                  <a:srgbClr val="000000"/>
                </a:solidFill>
                <a:latin typeface="Arial"/>
              </a:defRPr>
            </a:pPr>
            <a:r>
              <a:t>What is the difference between buffer memory and summary memory?</a:t>
            </a:r>
          </a:p>
          <a:p>
            <a:pPr>
              <a:spcBef>
                <a:spcPts val="0"/>
              </a:spcBef>
              <a:spcAft>
                <a:spcPts val="800"/>
              </a:spcAft>
              <a:defRPr sz="1800" b="0" i="0">
                <a:solidFill>
                  <a:srgbClr val="000000"/>
                </a:solidFill>
                <a:latin typeface="Arial"/>
              </a:defRPr>
            </a:pPr>
            <a:r>
              <a:t>Why do ordinary variables reset during Streamlit reruns?</a:t>
            </a:r>
          </a:p>
          <a:p>
            <a:pPr>
              <a:spcBef>
                <a:spcPts val="0"/>
              </a:spcBef>
              <a:spcAft>
                <a:spcPts val="800"/>
              </a:spcAft>
              <a:defRPr sz="1800" b="0" i="0">
                <a:solidFill>
                  <a:srgbClr val="000000"/>
                </a:solidFill>
                <a:latin typeface="Arial"/>
              </a:defRPr>
            </a:pPr>
            <a:r>
              <a:t>What kind of information belongs in session state?</a:t>
            </a:r>
          </a:p>
          <a:p>
            <a:pPr>
              <a:spcBef>
                <a:spcPts val="0"/>
              </a:spcBef>
              <a:spcAft>
                <a:spcPts val="800"/>
              </a:spcAft>
              <a:defRPr sz="1800" b="0" i="0">
                <a:solidFill>
                  <a:srgbClr val="000000"/>
                </a:solidFill>
                <a:latin typeface="Arial"/>
              </a:defRPr>
            </a:pPr>
            <a:r>
              <a:t>Why should the chatbot chain be retained across reruns?</a:t>
            </a:r>
          </a:p>
          <a:p>
            <a:pPr>
              <a:spcBef>
                <a:spcPts val="0"/>
              </a:spcBef>
              <a:spcAft>
                <a:spcPts val="800"/>
              </a:spcAft>
              <a:defRPr sz="1800" b="0" i="0">
                <a:solidFill>
                  <a:srgbClr val="000000"/>
                </a:solidFill>
                <a:latin typeface="Arial"/>
              </a:defRPr>
            </a:pPr>
            <a:r>
              <a:t>What is the purpose of a requirements file?</a:t>
            </a:r>
          </a:p>
          <a:p>
            <a:pPr>
              <a:spcBef>
                <a:spcPts val="0"/>
              </a:spcBef>
              <a:spcAft>
                <a:spcPts val="800"/>
              </a:spcAft>
              <a:defRPr sz="1800" b="0" i="0">
                <a:solidFill>
                  <a:srgbClr val="000000"/>
                </a:solidFill>
                <a:latin typeface="Arial"/>
              </a:defRPr>
            </a:pPr>
            <a:r>
              <a:t>What trade-offs distinguish local inference from cloud inference?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Retrospect">
  <a:themeElements>
    <a:clrScheme name="Retrospect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472</TotalTime>
  <Words>2991</Words>
  <Application>Microsoft Office PowerPoint</Application>
  <PresentationFormat>Widescreen</PresentationFormat>
  <Paragraphs>228</Paragraphs>
  <Slides>42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42</vt:i4>
      </vt:variant>
    </vt:vector>
  </HeadingPairs>
  <TitlesOfParts>
    <vt:vector size="46" baseType="lpstr">
      <vt:lpstr>Arial</vt:lpstr>
      <vt:lpstr>Calibri</vt:lpstr>
      <vt:lpstr>Calibri Light</vt:lpstr>
      <vt:lpstr>Retrospect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Rakesh Kr</cp:lastModifiedBy>
  <cp:revision>9</cp:revision>
  <dcterms:created xsi:type="dcterms:W3CDTF">2013-01-27T09:14:16Z</dcterms:created>
  <dcterms:modified xsi:type="dcterms:W3CDTF">2026-10-15T07:58:55Z</dcterms:modified>
  <cp:category/>
</cp:coreProperties>
</file>