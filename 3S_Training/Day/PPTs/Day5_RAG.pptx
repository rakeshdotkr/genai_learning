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63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9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049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054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710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1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3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32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329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425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5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34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5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5 - RAG Part 2: Full RAG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Python 3.13+ | Ollama (local) + Gemini (cloud) | ChromaDB | LangChain |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Vector? (Prerequisite)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A vector is a list of numbers that represents the meaning of a piece of text.</a:t>
            </a:r>
          </a:p>
          <a:p>
            <a:r>
              <a:t>Example: the word 'king' might be represented as [0.2, 0.8, 0.5, ...].</a:t>
            </a:r>
          </a:p>
          <a:p>
            <a:r>
              <a:t>Two sentences with similar meaning will have vectors that are numerically close.</a:t>
            </a:r>
          </a:p>
          <a:p>
            <a:r>
              <a:t>Two sentences with different meanings will have vectors that are far apart.</a:t>
            </a:r>
          </a:p>
          <a:p>
            <a:r>
              <a:t>This is how a computer understands and compares text without reading words.</a:t>
            </a:r>
          </a:p>
          <a:p>
            <a:r>
              <a:t>Vector comparison is done using cosine similarity - the smaller the angle between</a:t>
            </a:r>
          </a:p>
          <a:p>
            <a:r>
              <a:t>  two vectors, the more similar the meaning.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Embedding Model? (Prerequisite)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An embedding model is an AI that converts text into vectors.</a:t>
            </a:r>
          </a:p>
          <a:p>
            <a:r>
              <a:t>You feed it a sentence, it returns a list of numbers (the embedding).</a:t>
            </a:r>
          </a:p>
          <a:p>
            <a:r>
              <a:t>Example model used in Day 5: text-embedding-001 by Google.</a:t>
            </a:r>
          </a:p>
          <a:p>
            <a:r>
              <a:t>The same model must be used for both indexing and querying.</a:t>
            </a:r>
          </a:p>
          <a:p>
            <a:r>
              <a:t>Why? Because the numbers only have meaning relative to each other.</a:t>
            </a:r>
          </a:p>
          <a:p>
            <a:r>
              <a:t>Using a different model at query time would be like translating to a different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Vector Database? (Prerequisite)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A vector database stores text along with its embedding (list of numbers).</a:t>
            </a:r>
          </a:p>
          <a:p>
            <a:r>
              <a:t>When you search, it converts your query to a vector and finds the closest stored vectors.</a:t>
            </a:r>
          </a:p>
          <a:p>
            <a:r>
              <a:t>Result: the most semantically similar chunks of text are returned.</a:t>
            </a:r>
          </a:p>
          <a:p>
            <a:r>
              <a:t>ChromaDB is the vector database used in Day 5.</a:t>
            </a:r>
          </a:p>
          <a:p>
            <a:r>
              <a:t>It runs locally on your machine - no internet or cloud account needed.</a:t>
            </a:r>
          </a:p>
          <a:p>
            <a:r>
              <a:t>PersistentClient mode saves the database to disk so you do not re-embed on every run.</a:t>
            </a:r>
          </a:p>
          <a:p>
            <a:r>
              <a:t>get_or_create_collection: creates a new collection or opens an existing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LLM? (Prerequisite)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LLM stands for Large Language Model.</a:t>
            </a:r>
          </a:p>
          <a:p>
            <a:r>
              <a:t>It is an AI trained on massive amounts of text that can generate human-like responses.</a:t>
            </a:r>
          </a:p>
          <a:p>
            <a:r>
              <a:t>Examples used in Day 5:</a:t>
            </a:r>
          </a:p>
          <a:p>
            <a:r>
              <a:t>  Gemini (gemini-3.8-flash) - cloud-based, requires an API key.</a:t>
            </a:r>
          </a:p>
          <a:p>
            <a:r>
              <a:t>  Ollama (phi3:mini or gemma2:2b) - runs locally on your machine, no API key needed.</a:t>
            </a:r>
          </a:p>
          <a:p>
            <a:r>
              <a:t>An LLM on its own only knows what it was trained on.</a:t>
            </a:r>
          </a:p>
          <a:p>
            <a:r>
              <a:t>It has no knowledge of your private documents - that is the problem RAG solves.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 (Prerequisite)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RAG stands for Retrieval Augmented Generation.</a:t>
            </a:r>
          </a:p>
          <a:p>
            <a:r>
              <a:t>It solves a key problem: LLMs do not know about your private documents.</a:t>
            </a:r>
          </a:p>
          <a:p>
            <a:r>
              <a:t>The idea: before asking the LLM, first find the relevant parts of your document.</a:t>
            </a:r>
          </a:p>
          <a:p>
            <a:r>
              <a:t>Then pass those parts to the LLM as context so it can answer accurately.</a:t>
            </a:r>
          </a:p>
          <a:p>
            <a:r>
              <a:t>Retrieval: find the right chunks from your document store.</a:t>
            </a:r>
          </a:p>
          <a:p>
            <a:r>
              <a:t>Augmented: enrich the prompt with those chunks.</a:t>
            </a:r>
          </a:p>
          <a:p>
            <a:r>
              <a:t>Generation: the LLM generates an answer based on the provided context.</a:t>
            </a:r>
          </a:p>
          <a:p>
            <a:r>
              <a:t>RAG = Search first, then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LangChain? (Prerequisite)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LangChain is a Python framework for building applications powered by LLMs.</a:t>
            </a:r>
          </a:p>
          <a:p>
            <a:r>
              <a:t>It provides ready-made building blocks: prompts, retrievers, chains, parsers, memory.</a:t>
            </a:r>
          </a:p>
          <a:p>
            <a:r>
              <a:t>LCEL (LangChain Expression Language) lets you connect these blocks using the | pipe operator.</a:t>
            </a:r>
          </a:p>
          <a:p>
            <a:r>
              <a:t>Example:  retriever | format_docs | prompt | llm | parser</a:t>
            </a:r>
          </a:p>
          <a:p>
            <a:r>
              <a:t>Each block takes an input and passes output to the next.</a:t>
            </a:r>
          </a:p>
          <a:p>
            <a:r>
              <a:t>This makes complex pipelines easy to read and maintain.</a:t>
            </a:r>
          </a:p>
          <a:p>
            <a:r>
              <a:t>Day 5 uses LangChain to wire together the entire RAG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Streamlit? (Prerequisite)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Streamlit is a Python library for building web apps with very little code.</a:t>
            </a:r>
          </a:p>
          <a:p>
            <a:r>
              <a:t>You write a normal Python script and Streamlit turns it into an interactive web UI.</a:t>
            </a:r>
          </a:p>
          <a:p>
            <a:r>
              <a:t>No HTML, CSS, or JavaScript needed.</a:t>
            </a:r>
          </a:p>
          <a:p>
            <a:r>
              <a:t>Key components used in Day 5:</a:t>
            </a:r>
          </a:p>
          <a:p>
            <a:r>
              <a:t>  st.file_uploader: lets users upload files from the browser.</a:t>
            </a:r>
          </a:p>
          <a:p>
            <a:r>
              <a:t>  st.chat_input: a chat box for typing questions.</a:t>
            </a:r>
          </a:p>
          <a:p>
            <a:r>
              <a:t>  st.chat_message: renders messages in a chat-style layout.</a:t>
            </a:r>
          </a:p>
          <a:p>
            <a:r>
              <a:t>  st.session_state: stores data between user interactions (like a variable that persists).</a:t>
            </a:r>
          </a:p>
          <a:p>
            <a:r>
              <a:t>Run the app with:  streamlit run app.py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 in Day 4 - The Preparation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Day 4 built the first half of a RAG system: the indexing pipeline.</a:t>
            </a:r>
          </a:p>
          <a:p>
            <a:pPr lvl="1"/>
            <a:r>
              <a:rPr dirty="0"/>
              <a:t>Step 1: Load - read the source text file or PDF.</a:t>
            </a:r>
          </a:p>
          <a:p>
            <a:pPr lvl="1"/>
            <a:r>
              <a:rPr dirty="0"/>
              <a:t>Step 2: Chunk - split the text into smaller overlapping pieces.</a:t>
            </a:r>
          </a:p>
          <a:p>
            <a:pPr lvl="1"/>
            <a:r>
              <a:rPr dirty="0"/>
              <a:t>  Why overlap? So context is not lost at chunk boundaries.</a:t>
            </a:r>
          </a:p>
          <a:p>
            <a:pPr lvl="1"/>
            <a:r>
              <a:rPr dirty="0"/>
              <a:t>Step 3: Embed - convert each chunk into a vector using the embedding model.</a:t>
            </a:r>
          </a:p>
          <a:p>
            <a:pPr lvl="1"/>
            <a:r>
              <a:rPr dirty="0"/>
              <a:t>Step 4: Store - save the chunks and their vectors in </a:t>
            </a:r>
            <a:r>
              <a:rPr dirty="0" err="1"/>
              <a:t>ChromaDB</a:t>
            </a:r>
            <a:r>
              <a:rPr dirty="0"/>
              <a:t>.</a:t>
            </a:r>
          </a:p>
          <a:p>
            <a:pPr lvl="1"/>
            <a:r>
              <a:rPr dirty="0"/>
              <a:t>This pipeline runs once. The result is a searchable knowledge base on disk.</a:t>
            </a:r>
          </a:p>
          <a:p>
            <a:pPr lvl="1"/>
            <a:r>
              <a:rPr dirty="0"/>
              <a:t>Today (Day 5) we build the query side that actually answers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Build in Day 5 - The Query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Day 5 builds the second half: the query pipeline that answers questions.</a:t>
            </a:r>
          </a:p>
          <a:p>
            <a:r>
              <a:t>Step 1: Take the user question.</a:t>
            </a:r>
          </a:p>
          <a:p>
            <a:r>
              <a:t>Step 2: Embed the question using the same embedding model.</a:t>
            </a:r>
          </a:p>
          <a:p>
            <a:r>
              <a:t>Step 3: Search ChromaDB for the top-k most similar chunks.</a:t>
            </a:r>
          </a:p>
          <a:p>
            <a:r>
              <a:t>Step 4: Join the retrieved chunks into a context string.</a:t>
            </a:r>
          </a:p>
          <a:p>
            <a:r>
              <a:t>Step 5: Inject context + question into a prompt template.</a:t>
            </a:r>
          </a:p>
          <a:p>
            <a:r>
              <a:t>Step 6: Send the populated prompt to the LLM.</a:t>
            </a:r>
          </a:p>
          <a:p>
            <a:r>
              <a:t>Step 7: LLM returns an answer grounded in your documents.</a:t>
            </a:r>
          </a:p>
          <a:p>
            <a:r>
              <a:t>Together, Day 4 + Day 5 form a complete RAG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Retrieve top-k Chunks, Not the Whole Document?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LLMs have a </a:t>
            </a:r>
            <a:r>
              <a:rPr dirty="0">
                <a:highlight>
                  <a:srgbClr val="FFFF00"/>
                </a:highlight>
              </a:rPr>
              <a:t>context limit </a:t>
            </a:r>
            <a:r>
              <a:rPr dirty="0"/>
              <a:t>- they cannot read an entire 100-page document at once.</a:t>
            </a:r>
          </a:p>
          <a:p>
            <a:r>
              <a:rPr dirty="0"/>
              <a:t>Retrieving only the most relevant chunks keeps the prompt short and focused.</a:t>
            </a:r>
          </a:p>
          <a:p>
            <a:r>
              <a:rPr dirty="0">
                <a:highlight>
                  <a:srgbClr val="FFFF00"/>
                </a:highlight>
              </a:rPr>
              <a:t>A focused prompt leads to a more accurate and relevant answer</a:t>
            </a:r>
            <a:r>
              <a:rPr dirty="0"/>
              <a:t>.</a:t>
            </a:r>
          </a:p>
          <a:p>
            <a:r>
              <a:rPr dirty="0"/>
              <a:t>Too much irrelevant context can confuse the LLM and dilute the answer quality.</a:t>
            </a:r>
          </a:p>
          <a:p>
            <a:r>
              <a:rPr dirty="0"/>
              <a:t>k controls how many chunks are retrieved (typically 2-5).</a:t>
            </a:r>
          </a:p>
          <a:p>
            <a:r>
              <a:rPr dirty="0"/>
              <a:t>Smaller k = more focused answer but may miss context.</a:t>
            </a:r>
          </a:p>
          <a:p>
            <a:r>
              <a:rPr dirty="0"/>
              <a:t>Larger k = more context but prompt gets longer and potentially noisier.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Raw RAG - Doing It Without </a:t>
            </a:r>
            <a:r>
              <a:rPr dirty="0" err="1"/>
              <a:t>LangChain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Before using </a:t>
            </a:r>
            <a:r>
              <a:rPr dirty="0" err="1"/>
              <a:t>LangChain</a:t>
            </a:r>
            <a:r>
              <a:rPr dirty="0"/>
              <a:t>, Day 5 builds RAG manually to understand each step.</a:t>
            </a:r>
          </a:p>
          <a:p>
            <a:r>
              <a:rPr dirty="0"/>
              <a:t>This is important: knowing the raw steps makes the </a:t>
            </a:r>
            <a:r>
              <a:rPr dirty="0" err="1"/>
              <a:t>LangChain</a:t>
            </a:r>
            <a:r>
              <a:rPr dirty="0"/>
              <a:t> version easier to understand.</a:t>
            </a:r>
          </a:p>
          <a:p>
            <a:r>
              <a:rPr dirty="0"/>
              <a:t>Build phase (run once):</a:t>
            </a:r>
          </a:p>
          <a:p>
            <a:pPr marL="457200" lvl="1" indent="0">
              <a:buNone/>
            </a:pPr>
            <a:r>
              <a:rPr dirty="0"/>
              <a:t>  1. Split KB text with </a:t>
            </a:r>
            <a:r>
              <a:rPr dirty="0" err="1"/>
              <a:t>RecursiveCharacterTextSplitter</a:t>
            </a:r>
            <a:r>
              <a:rPr dirty="0"/>
              <a:t>(</a:t>
            </a:r>
            <a:r>
              <a:rPr dirty="0" err="1"/>
              <a:t>chunk_size</a:t>
            </a:r>
            <a:r>
              <a:rPr dirty="0"/>
              <a:t>=200, </a:t>
            </a:r>
            <a:r>
              <a:rPr dirty="0" err="1"/>
              <a:t>chunk_overlap</a:t>
            </a:r>
            <a:r>
              <a:rPr dirty="0"/>
              <a:t>=30).</a:t>
            </a:r>
          </a:p>
          <a:p>
            <a:pPr marL="457200" lvl="1" indent="0">
              <a:buNone/>
            </a:pPr>
            <a:r>
              <a:rPr dirty="0"/>
              <a:t>  2. Embed all chunks using </a:t>
            </a:r>
            <a:r>
              <a:rPr dirty="0" err="1"/>
              <a:t>client.models.embed_content</a:t>
            </a:r>
            <a:r>
              <a:rPr dirty="0"/>
              <a:t>(model=‘</a:t>
            </a:r>
            <a:r>
              <a:rPr lang="en-US" dirty="0"/>
              <a:t>gemini</a:t>
            </a:r>
            <a:r>
              <a:rPr dirty="0"/>
              <a:t>-embedding-</a:t>
            </a:r>
            <a:r>
              <a:rPr lang="en-US" dirty="0"/>
              <a:t>2</a:t>
            </a:r>
            <a:r>
              <a:rPr dirty="0"/>
              <a:t>').</a:t>
            </a:r>
          </a:p>
          <a:p>
            <a:pPr marL="457200" lvl="1" indent="0">
              <a:buNone/>
            </a:pPr>
            <a:r>
              <a:rPr dirty="0"/>
              <a:t>  3. Store in </a:t>
            </a:r>
            <a:r>
              <a:rPr dirty="0" err="1"/>
              <a:t>ChromaDB</a:t>
            </a:r>
            <a:r>
              <a:rPr dirty="0"/>
              <a:t> </a:t>
            </a:r>
            <a:r>
              <a:rPr dirty="0" err="1"/>
              <a:t>PersistentClient</a:t>
            </a:r>
            <a:r>
              <a:rPr dirty="0"/>
              <a:t> at path ./</a:t>
            </a:r>
            <a:r>
              <a:rPr dirty="0" err="1"/>
              <a:t>rag_db</a:t>
            </a:r>
            <a:r>
              <a:rPr dirty="0"/>
              <a:t>.</a:t>
            </a:r>
          </a:p>
          <a:p>
            <a:r>
              <a:rPr dirty="0"/>
              <a:t>Query phase (run every time):</a:t>
            </a:r>
          </a:p>
          <a:p>
            <a:pPr marL="457200" lvl="1" indent="0">
              <a:buNone/>
            </a:pPr>
            <a:r>
              <a:rPr dirty="0"/>
              <a:t>  1. Embed the question the same way.</a:t>
            </a:r>
          </a:p>
          <a:p>
            <a:pPr marL="457200" lvl="1" indent="0">
              <a:buNone/>
            </a:pPr>
            <a:r>
              <a:rPr dirty="0"/>
              <a:t>  2. Call </a:t>
            </a:r>
            <a:r>
              <a:rPr dirty="0" err="1"/>
              <a:t>col.query</a:t>
            </a:r>
            <a:r>
              <a:rPr dirty="0"/>
              <a:t>(</a:t>
            </a:r>
            <a:r>
              <a:rPr dirty="0" err="1"/>
              <a:t>query_embeddings</a:t>
            </a:r>
            <a:r>
              <a:rPr dirty="0"/>
              <a:t>=[</a:t>
            </a:r>
            <a:r>
              <a:rPr dirty="0" err="1"/>
              <a:t>q_emb</a:t>
            </a:r>
            <a:r>
              <a:rPr dirty="0"/>
              <a:t>], </a:t>
            </a:r>
            <a:r>
              <a:rPr dirty="0" err="1"/>
              <a:t>n_results</a:t>
            </a:r>
            <a:r>
              <a:rPr dirty="0"/>
              <a:t>=3) to get top-3 chunks.</a:t>
            </a:r>
          </a:p>
          <a:p>
            <a:pPr marL="457200" lvl="1" indent="0">
              <a:buNone/>
            </a:pPr>
            <a:r>
              <a:rPr dirty="0"/>
              <a:t>  3. Join chunks into context string, build prompt, call Gemini LLM.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RecursiveCharacterTextSplitter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Splits long text into smaller chunks that fit inside a prompt.</a:t>
            </a:r>
          </a:p>
          <a:p>
            <a:r>
              <a:rPr dirty="0" err="1"/>
              <a:t>chunk_size</a:t>
            </a:r>
            <a:r>
              <a:rPr dirty="0"/>
              <a:t>: maximum number of characters per chunk (e.g. 200 or 500).</a:t>
            </a:r>
          </a:p>
          <a:p>
            <a:r>
              <a:rPr dirty="0" err="1"/>
              <a:t>chunk_overlap</a:t>
            </a:r>
            <a:r>
              <a:rPr dirty="0"/>
              <a:t>: how many characters from the end of one chunk are repeated at the start of the next.</a:t>
            </a:r>
          </a:p>
          <a:p>
            <a:r>
              <a:rPr dirty="0"/>
              <a:t>Why overlap? To avoid cutting a sentence mid-thought at a chunk boundary.</a:t>
            </a:r>
          </a:p>
          <a:p>
            <a:r>
              <a:rPr dirty="0"/>
              <a:t>Example with </a:t>
            </a:r>
            <a:r>
              <a:rPr dirty="0" err="1"/>
              <a:t>chunk_size</a:t>
            </a:r>
            <a:r>
              <a:rPr dirty="0"/>
              <a:t>=200, </a:t>
            </a:r>
            <a:r>
              <a:rPr dirty="0" err="1"/>
              <a:t>chunk_overlap</a:t>
            </a:r>
            <a:r>
              <a:rPr dirty="0"/>
              <a:t>=30:</a:t>
            </a:r>
          </a:p>
          <a:p>
            <a:pPr lvl="1"/>
            <a:r>
              <a:rPr dirty="0"/>
              <a:t>  Chunk 1: characters 0-199</a:t>
            </a:r>
          </a:p>
          <a:p>
            <a:pPr lvl="1"/>
            <a:r>
              <a:rPr dirty="0"/>
              <a:t>  Chunk 2: characters 170-369   (170 = 200 - 30 overlap)</a:t>
            </a:r>
          </a:p>
          <a:p>
            <a:pPr lvl="1"/>
            <a:r>
              <a:rPr dirty="0"/>
              <a:t>  Chunk 3: characters 340-539</a:t>
            </a:r>
          </a:p>
          <a:p>
            <a:r>
              <a:rPr dirty="0"/>
              <a:t>The splitter tries paragraph breaks, then sentence breaks, then word breaks.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Chain with LangChain LCEL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 err="1"/>
              <a:t>LangChain's</a:t>
            </a:r>
            <a:r>
              <a:rPr dirty="0"/>
              <a:t> </a:t>
            </a:r>
            <a:r>
              <a:rPr dirty="0" err="1"/>
              <a:t>LCEL</a:t>
            </a:r>
            <a:r>
              <a:rPr dirty="0"/>
              <a:t> lets you build the same pipeline with less boilerplate.</a:t>
            </a:r>
          </a:p>
          <a:p>
            <a:r>
              <a:rPr dirty="0"/>
              <a:t>The chain is written as:  {context, question} | prompt | </a:t>
            </a:r>
            <a:r>
              <a:rPr dirty="0" err="1"/>
              <a:t>llm</a:t>
            </a:r>
            <a:r>
              <a:rPr dirty="0"/>
              <a:t> | </a:t>
            </a:r>
            <a:r>
              <a:rPr dirty="0" err="1"/>
              <a:t>StrOutputParser</a:t>
            </a:r>
            <a:r>
              <a:rPr dirty="0"/>
              <a:t>()</a:t>
            </a:r>
          </a:p>
          <a:p>
            <a:r>
              <a:rPr dirty="0" err="1"/>
              <a:t>RunnablePassthrough</a:t>
            </a:r>
            <a:r>
              <a:rPr dirty="0"/>
              <a:t>: passes the question unchanged to the prompt.</a:t>
            </a:r>
          </a:p>
          <a:p>
            <a:r>
              <a:rPr dirty="0"/>
              <a:t> Without it, the question would be lost after the retriever runs.</a:t>
            </a:r>
          </a:p>
          <a:p>
            <a:r>
              <a:rPr dirty="0"/>
              <a:t>retriever | </a:t>
            </a:r>
            <a:r>
              <a:rPr dirty="0" err="1"/>
              <a:t>format_docs</a:t>
            </a:r>
            <a:r>
              <a:rPr dirty="0"/>
              <a:t>: retrieves chunks and joins them into a string for context.</a:t>
            </a:r>
          </a:p>
          <a:p>
            <a:r>
              <a:rPr dirty="0" err="1"/>
              <a:t>format_docs</a:t>
            </a:r>
            <a:r>
              <a:rPr dirty="0"/>
              <a:t>: a simple function - joins </a:t>
            </a:r>
            <a:r>
              <a:rPr dirty="0" err="1"/>
              <a:t>Document.page_content</a:t>
            </a:r>
            <a:r>
              <a:rPr dirty="0"/>
              <a:t> fields with newlines.</a:t>
            </a:r>
          </a:p>
          <a:p>
            <a:r>
              <a:rPr dirty="0" err="1"/>
              <a:t>StrOutputParser</a:t>
            </a:r>
            <a:r>
              <a:rPr dirty="0"/>
              <a:t>: converts the LLM response object to a plain Python string.</a:t>
            </a:r>
          </a:p>
          <a:p>
            <a:r>
              <a:rPr dirty="0">
                <a:highlight>
                  <a:srgbClr val="FFFF00"/>
                </a:highlight>
              </a:rPr>
              <a:t>Benefit over raw RAG: each step is a reusable, composable unit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Ollama - Running LLMs Locally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Ollama lets you run open-source LLMs directly on your laptop - no API key needed.</a:t>
            </a:r>
          </a:p>
          <a:p>
            <a:r>
              <a:t>Models used in Day 5:</a:t>
            </a:r>
          </a:p>
          <a:p>
            <a:r>
              <a:t>  phi3:mini  - Microsoft model, runs on 4 GB RAM, fast and capable.</a:t>
            </a:r>
          </a:p>
          <a:p>
            <a:r>
              <a:t>  gemma2:2b  - Google model, runs on 8 GB RAM, higher quality.</a:t>
            </a:r>
          </a:p>
          <a:p>
            <a:r>
              <a:t>To use Ollama with LangChain, swap two classes:</a:t>
            </a:r>
          </a:p>
          <a:p>
            <a:r>
              <a:t>  GoogleGenerativeAIEmbeddings  -&gt;  OllamaEmbeddings(model='nomic-embed-text')</a:t>
            </a:r>
          </a:p>
          <a:p>
            <a:r>
              <a:t>  ChatGoogleGenerativeAI        -&gt;  ChatOllama(model='phi3:mini')</a:t>
            </a:r>
          </a:p>
          <a:p>
            <a:r>
              <a:t>nomic-embed-text is a local embedding model (run: ollama pull nomic-embed-text).</a:t>
            </a:r>
          </a:p>
          <a:p>
            <a:r>
              <a:t>Everything else in the chain stays exactly the same.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Source Citations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Imagine a chatbot that gives you medical advice but cites no source.</a:t>
            </a:r>
          </a:p>
          <a:p>
            <a:r>
              <a:rPr dirty="0"/>
              <a:t>Would you trust it? Probably not.</a:t>
            </a:r>
          </a:p>
          <a:p>
            <a:r>
              <a:rPr dirty="0"/>
              <a:t>Source citations solve this problem - they tell you exactly where the answer came from.</a:t>
            </a:r>
          </a:p>
          <a:p>
            <a:r>
              <a:rPr dirty="0"/>
              <a:t>Benefits:</a:t>
            </a:r>
          </a:p>
          <a:p>
            <a:pPr lvl="1"/>
            <a:r>
              <a:rPr dirty="0"/>
              <a:t>  Trust: 'this came from page 3 of policy.pdf'</a:t>
            </a:r>
          </a:p>
          <a:p>
            <a:pPr lvl="1"/>
            <a:r>
              <a:rPr dirty="0"/>
              <a:t>  Debugging: if the answer is wrong, you can find the wrong chunk and fix the KB.</a:t>
            </a:r>
          </a:p>
          <a:p>
            <a:pPr lvl="1"/>
            <a:r>
              <a:rPr dirty="0"/>
              <a:t>  Compliance: legal, medical, and enterprise systems often require citation.</a:t>
            </a:r>
          </a:p>
          <a:p>
            <a:r>
              <a:rPr dirty="0"/>
              <a:t>In </a:t>
            </a:r>
            <a:r>
              <a:rPr dirty="0" err="1"/>
              <a:t>LangChain</a:t>
            </a:r>
            <a:r>
              <a:rPr dirty="0"/>
              <a:t>, citations come from the metadata stored inside Document objects.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Document Metadata - Attaching Source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Every </a:t>
            </a:r>
            <a:r>
              <a:rPr dirty="0" err="1"/>
              <a:t>LangChain</a:t>
            </a:r>
            <a:r>
              <a:rPr dirty="0"/>
              <a:t> Document object has two fields: </a:t>
            </a:r>
            <a:r>
              <a:rPr dirty="0" err="1">
                <a:highlight>
                  <a:srgbClr val="FFFF00"/>
                </a:highlight>
              </a:rPr>
              <a:t>page_content</a:t>
            </a:r>
            <a:r>
              <a:rPr dirty="0"/>
              <a:t> and </a:t>
            </a:r>
            <a:r>
              <a:rPr dirty="0">
                <a:highlight>
                  <a:srgbClr val="FFFF00"/>
                </a:highlight>
              </a:rPr>
              <a:t>metadata</a:t>
            </a:r>
            <a:r>
              <a:rPr dirty="0"/>
              <a:t>.</a:t>
            </a:r>
          </a:p>
          <a:p>
            <a:r>
              <a:rPr dirty="0" err="1"/>
              <a:t>page_content</a:t>
            </a:r>
            <a:r>
              <a:rPr dirty="0"/>
              <a:t>: the actual text chunk.</a:t>
            </a:r>
          </a:p>
          <a:p>
            <a:r>
              <a:rPr dirty="0"/>
              <a:t>metadata: a Python dictionary where you store extra info about the chunk.</a:t>
            </a:r>
          </a:p>
          <a:p>
            <a:r>
              <a:rPr dirty="0"/>
              <a:t>Example:</a:t>
            </a:r>
          </a:p>
          <a:p>
            <a:r>
              <a:rPr dirty="0"/>
              <a:t>  Document(</a:t>
            </a:r>
            <a:r>
              <a:rPr dirty="0" err="1"/>
              <a:t>page_content</a:t>
            </a:r>
            <a:r>
              <a:rPr dirty="0"/>
              <a:t>="Python was created in 1991.",</a:t>
            </a:r>
          </a:p>
          <a:p>
            <a:r>
              <a:rPr dirty="0"/>
              <a:t>           metadata={"source": "python_history.txt", "page": 1})</a:t>
            </a:r>
          </a:p>
          <a:p>
            <a:r>
              <a:rPr dirty="0"/>
              <a:t>You attach metadata when creating the Document - before adding to the </a:t>
            </a:r>
            <a:r>
              <a:rPr dirty="0" err="1"/>
              <a:t>vectorstore</a:t>
            </a:r>
            <a:r>
              <a:rPr dirty="0"/>
              <a:t>.</a:t>
            </a:r>
          </a:p>
          <a:p>
            <a:r>
              <a:rPr dirty="0"/>
              <a:t>At query time, the retrieved Documents still carry their metadata.</a:t>
            </a:r>
          </a:p>
          <a:p>
            <a:r>
              <a:rPr dirty="0"/>
              <a:t>You then read </a:t>
            </a:r>
            <a:r>
              <a:rPr dirty="0" err="1"/>
              <a:t>doc.metadata</a:t>
            </a:r>
            <a:r>
              <a:rPr dirty="0"/>
              <a:t>['source'] and </a:t>
            </a:r>
            <a:r>
              <a:rPr dirty="0" err="1"/>
              <a:t>doc.metadata</a:t>
            </a:r>
            <a:r>
              <a:rPr dirty="0"/>
              <a:t>['page'] to build the citation.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RunnableParallel - Getting Answer and Sources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Problem: the RAG chain returns only the answer string.</a:t>
            </a:r>
          </a:p>
          <a:p>
            <a:r>
              <a:rPr dirty="0"/>
              <a:t>To show citations, you also need the source Documents that were retrieved.</a:t>
            </a:r>
          </a:p>
          <a:p>
            <a:r>
              <a:rPr dirty="0"/>
              <a:t>Solution: </a:t>
            </a:r>
            <a:r>
              <a:rPr dirty="0" err="1">
                <a:highlight>
                  <a:srgbClr val="FFFF00"/>
                </a:highlight>
              </a:rPr>
              <a:t>RunnableParallel</a:t>
            </a:r>
            <a:r>
              <a:rPr dirty="0">
                <a:highlight>
                  <a:srgbClr val="FFFF00"/>
                </a:highlight>
              </a:rPr>
              <a:t> runs two branches at the same time on the same input</a:t>
            </a:r>
            <a:r>
              <a:rPr dirty="0"/>
              <a:t>.</a:t>
            </a:r>
          </a:p>
          <a:p>
            <a:r>
              <a:rPr dirty="0"/>
              <a:t>Branch 1 (</a:t>
            </a:r>
            <a:r>
              <a:rPr dirty="0">
                <a:highlight>
                  <a:srgbClr val="FFFF00"/>
                </a:highlight>
              </a:rPr>
              <a:t>answer</a:t>
            </a:r>
            <a:r>
              <a:rPr dirty="0"/>
              <a:t>): full RAG chain -&gt; produces the answer string.</a:t>
            </a:r>
          </a:p>
          <a:p>
            <a:r>
              <a:rPr dirty="0"/>
              <a:t>Branch 2 (</a:t>
            </a:r>
            <a:r>
              <a:rPr dirty="0">
                <a:highlight>
                  <a:srgbClr val="FFFF00"/>
                </a:highlight>
              </a:rPr>
              <a:t>sources</a:t>
            </a:r>
            <a:r>
              <a:rPr dirty="0"/>
              <a:t>): just the retriever -&gt; returns raw Document objects.</a:t>
            </a:r>
          </a:p>
          <a:p>
            <a:r>
              <a:rPr dirty="0"/>
              <a:t>Both branches receive the same question as input.</a:t>
            </a:r>
          </a:p>
          <a:p>
            <a:r>
              <a:rPr dirty="0"/>
              <a:t>The result is a dictionary: {'answer': '...', 'sources': [doc1, doc2, ...]}</a:t>
            </a:r>
          </a:p>
          <a:p>
            <a:r>
              <a:rPr dirty="0"/>
              <a:t>You then loop over result['sources'] and read each doc's metadata for citations.</a:t>
            </a:r>
          </a:p>
          <a:p>
            <a:r>
              <a:rPr dirty="0"/>
              <a:t>Use a seen set to deduplicate if multiple chunks come from the same page.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Strategy 1 - Similarity Search (Default)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This is the default retrieval method in </a:t>
            </a:r>
            <a:r>
              <a:rPr dirty="0" err="1"/>
              <a:t>LangChain</a:t>
            </a:r>
            <a:r>
              <a:rPr dirty="0"/>
              <a:t> + </a:t>
            </a:r>
            <a:r>
              <a:rPr dirty="0" err="1"/>
              <a:t>ChromaDB</a:t>
            </a:r>
            <a:r>
              <a:rPr dirty="0"/>
              <a:t>.</a:t>
            </a:r>
          </a:p>
          <a:p>
            <a:r>
              <a:rPr dirty="0"/>
              <a:t>How it works: embed the question, find the k chunks with the smallest vector distance.</a:t>
            </a:r>
          </a:p>
          <a:p>
            <a:r>
              <a:rPr dirty="0"/>
              <a:t>Parameter: k - the number of chunks to return (default is 4).</a:t>
            </a:r>
          </a:p>
          <a:p>
            <a:r>
              <a:rPr dirty="0"/>
              <a:t>Best for: general questions where you want the most relevant chunks.</a:t>
            </a:r>
          </a:p>
          <a:p>
            <a:r>
              <a:rPr dirty="0"/>
              <a:t>Example setup:</a:t>
            </a:r>
          </a:p>
          <a:p>
            <a:r>
              <a:rPr dirty="0"/>
              <a:t>  retriever = </a:t>
            </a:r>
            <a:r>
              <a:rPr dirty="0" err="1"/>
              <a:t>vectorstore.as_retriever</a:t>
            </a:r>
            <a:r>
              <a:rPr dirty="0"/>
              <a:t>(</a:t>
            </a:r>
            <a:r>
              <a:rPr dirty="0" err="1"/>
              <a:t>search_kwargs</a:t>
            </a:r>
            <a:r>
              <a:rPr dirty="0"/>
              <a:t>={'k': 3})</a:t>
            </a:r>
          </a:p>
          <a:p>
            <a:r>
              <a:rPr dirty="0"/>
              <a:t>Limitation: always returns exactly k results even if none are very relevant.</a:t>
            </a:r>
          </a:p>
          <a:p>
            <a:r>
              <a:rPr dirty="0"/>
              <a:t>If your question is unrelated to the KB, you still get k chunks - just irrelevant ones.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Retrieval Strategy 2 - Score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Adds a minimum relevance cutoff to similarity search.</a:t>
            </a:r>
          </a:p>
          <a:p>
            <a:r>
              <a:rPr dirty="0"/>
              <a:t>Chunks with a relevance score below the threshold are discarded.</a:t>
            </a:r>
          </a:p>
          <a:p>
            <a:r>
              <a:rPr dirty="0"/>
              <a:t>Example setup:</a:t>
            </a:r>
          </a:p>
          <a:p>
            <a:r>
              <a:rPr dirty="0"/>
              <a:t>  retriever = </a:t>
            </a:r>
            <a:r>
              <a:rPr dirty="0" err="1"/>
              <a:t>vectorstore.as_retriever</a:t>
            </a:r>
            <a:r>
              <a:rPr dirty="0"/>
              <a:t>(</a:t>
            </a:r>
          </a:p>
          <a:p>
            <a:r>
              <a:rPr dirty="0"/>
              <a:t>      </a:t>
            </a:r>
            <a:r>
              <a:rPr dirty="0" err="1"/>
              <a:t>search_type</a:t>
            </a:r>
            <a:r>
              <a:rPr dirty="0"/>
              <a:t>='</a:t>
            </a:r>
            <a:r>
              <a:rPr dirty="0" err="1"/>
              <a:t>similarity_score_threshold</a:t>
            </a:r>
            <a:r>
              <a:rPr dirty="0"/>
              <a:t>',</a:t>
            </a:r>
          </a:p>
          <a:p>
            <a:r>
              <a:rPr dirty="0"/>
              <a:t>      </a:t>
            </a:r>
            <a:r>
              <a:rPr dirty="0" err="1"/>
              <a:t>search_kwargs</a:t>
            </a:r>
            <a:r>
              <a:rPr dirty="0"/>
              <a:t>={'</a:t>
            </a:r>
            <a:r>
              <a:rPr dirty="0" err="1"/>
              <a:t>score_threshold</a:t>
            </a:r>
            <a:r>
              <a:rPr dirty="0"/>
              <a:t>': 0.4, 'k': 3})</a:t>
            </a:r>
          </a:p>
          <a:p>
            <a:r>
              <a:rPr dirty="0"/>
              <a:t>If no chunks meet the threshold, the retriever returns an empty list.</a:t>
            </a:r>
          </a:p>
          <a:p>
            <a:r>
              <a:rPr dirty="0"/>
              <a:t>This prevents the LLM from hallucinating an answer when nothing relevant exists.</a:t>
            </a:r>
          </a:p>
          <a:p>
            <a:r>
              <a:rPr dirty="0"/>
              <a:t>Best for: cases where you want the system to say 'I don't know' rather than guess.</a:t>
            </a:r>
          </a:p>
          <a:p>
            <a:r>
              <a:rPr dirty="0"/>
              <a:t>Tuning tip: lower threshold = more permissive; higher = stricter.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Retrieval Strategy 3 - MMR (</a:t>
            </a:r>
            <a:r>
              <a:rPr dirty="0">
                <a:highlight>
                  <a:srgbClr val="FFFF00"/>
                </a:highlight>
              </a:rPr>
              <a:t>Maximal Marginal Relevance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dirty="0"/>
              <a:t>MMR balances two goals: </a:t>
            </a:r>
            <a:r>
              <a:rPr dirty="0">
                <a:highlight>
                  <a:srgbClr val="FFFF00"/>
                </a:highlight>
              </a:rPr>
              <a:t>relevance</a:t>
            </a:r>
            <a:r>
              <a:rPr dirty="0"/>
              <a:t> to the question AND </a:t>
            </a:r>
            <a:r>
              <a:rPr dirty="0">
                <a:highlight>
                  <a:srgbClr val="FFFF00"/>
                </a:highlight>
              </a:rPr>
              <a:t>diversity</a:t>
            </a:r>
            <a:r>
              <a:rPr dirty="0"/>
              <a:t> among results.</a:t>
            </a:r>
          </a:p>
          <a:p>
            <a:r>
              <a:rPr dirty="0"/>
              <a:t>Problem with plain similarity: the top-3 results might all say the same thing.</a:t>
            </a:r>
          </a:p>
          <a:p>
            <a:r>
              <a:rPr dirty="0"/>
              <a:t>MMR avoids this by </a:t>
            </a:r>
            <a:r>
              <a:rPr dirty="0" err="1"/>
              <a:t>penalising</a:t>
            </a:r>
            <a:r>
              <a:rPr dirty="0"/>
              <a:t> chunks that are too similar to already-selected ones.</a:t>
            </a:r>
          </a:p>
          <a:p>
            <a:r>
              <a:rPr dirty="0"/>
              <a:t>How it works:</a:t>
            </a:r>
          </a:p>
          <a:p>
            <a:r>
              <a:rPr dirty="0"/>
              <a:t>  1. Fetch </a:t>
            </a:r>
            <a:r>
              <a:rPr dirty="0" err="1"/>
              <a:t>fetch_k</a:t>
            </a:r>
            <a:r>
              <a:rPr dirty="0"/>
              <a:t> candidate chunks by similarity (e.g. 10).</a:t>
            </a:r>
          </a:p>
          <a:p>
            <a:r>
              <a:rPr dirty="0"/>
              <a:t>  2. From those, pick k chunks that </a:t>
            </a:r>
            <a:r>
              <a:rPr dirty="0" err="1"/>
              <a:t>maximise</a:t>
            </a:r>
            <a:r>
              <a:rPr dirty="0"/>
              <a:t> relevance AND are diverse from each other.</a:t>
            </a:r>
          </a:p>
          <a:p>
            <a:r>
              <a:rPr dirty="0"/>
              <a:t>Example setup:</a:t>
            </a:r>
          </a:p>
          <a:p>
            <a:r>
              <a:rPr dirty="0"/>
              <a:t>  retriever = </a:t>
            </a:r>
            <a:r>
              <a:rPr dirty="0" err="1"/>
              <a:t>vectorstore.as_retriever</a:t>
            </a:r>
            <a:r>
              <a:rPr dirty="0"/>
              <a:t>(</a:t>
            </a:r>
          </a:p>
          <a:p>
            <a:r>
              <a:rPr dirty="0"/>
              <a:t>      </a:t>
            </a:r>
            <a:r>
              <a:rPr dirty="0" err="1"/>
              <a:t>search_type</a:t>
            </a:r>
            <a:r>
              <a:rPr dirty="0"/>
              <a:t>='</a:t>
            </a:r>
            <a:r>
              <a:rPr dirty="0" err="1"/>
              <a:t>mmr</a:t>
            </a:r>
            <a:r>
              <a:rPr dirty="0"/>
              <a:t>',</a:t>
            </a:r>
          </a:p>
          <a:p>
            <a:r>
              <a:rPr dirty="0"/>
              <a:t>      </a:t>
            </a:r>
            <a:r>
              <a:rPr dirty="0" err="1"/>
              <a:t>search_kwargs</a:t>
            </a:r>
            <a:r>
              <a:rPr dirty="0"/>
              <a:t>={'k': 3, '</a:t>
            </a:r>
            <a:r>
              <a:rPr dirty="0" err="1"/>
              <a:t>fetch_k</a:t>
            </a:r>
            <a:r>
              <a:rPr dirty="0"/>
              <a:t>': 10})</a:t>
            </a:r>
          </a:p>
          <a:p>
            <a:r>
              <a:rPr dirty="0"/>
              <a:t>Best for: broad questions that need coverage across multiple aspects of the KB.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Retrieval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similarity (default): use for most general questions. Simple and fast.</a:t>
            </a:r>
          </a:p>
          <a:p>
            <a:r>
              <a:t>score_threshold: use when you want 'I don't know' instead of a hallucinated answer.</a:t>
            </a:r>
          </a:p>
          <a:p>
            <a:r>
              <a:t>MMR: use when the question is broad and needs diverse coverage.</a:t>
            </a:r>
          </a:p>
          <a:p>
            <a:r>
              <a:t>You can always start with similarity and switch when you notice problems:</a:t>
            </a:r>
          </a:p>
          <a:p>
            <a:r>
              <a:t>  Getting irrelevant answers for out-of-scope questions -&gt; add score_threshold.</a:t>
            </a:r>
          </a:p>
          <a:p>
            <a:r>
              <a:t>  Getting repetitive context chunks -&gt; switch to MMR.</a:t>
            </a:r>
          </a:p>
          <a:p>
            <a:r>
              <a:t>These strategies can also be combined with metadata filtering (the where= parameter)</a:t>
            </a:r>
          </a:p>
          <a:p>
            <a:r>
              <a:t>  to narrow results to a specific document or section before ranking.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with Stateless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Every time you call a plain RAG chain, it starts fresh - no memory of past messages.</a:t>
            </a:r>
          </a:p>
          <a:p>
            <a:r>
              <a:t>This breaks natural follow-up questions:</a:t>
            </a:r>
          </a:p>
          <a:p>
            <a:r>
              <a:t>  Turn 1: 'Tell me about Python.'</a:t>
            </a:r>
          </a:p>
          <a:p>
            <a:r>
              <a:t>  Turn 2: 'Who created it?'</a:t>
            </a:r>
          </a:p>
          <a:p>
            <a:r>
              <a:t>  The word 'it' refers to Python - but the RAG chain does not know that.</a:t>
            </a:r>
          </a:p>
          <a:p>
            <a:r>
              <a:t>  It embeds 'Who created it?' literally, which may not match anything in the KB.</a:t>
            </a:r>
          </a:p>
          <a:p>
            <a:r>
              <a:t>Result: irrelevant chunks retrieved -&gt; wrong or empty answer.</a:t>
            </a:r>
          </a:p>
          <a:p>
            <a:r>
              <a:t>Solution: before retrieving, rewrite the follow-up as a standalone question.</a:t>
            </a:r>
          </a:p>
          <a:p>
            <a:r>
              <a:t>  'Who created it?' -&gt; 'Who created Python?'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Conversational RAG - Two-Chain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Chain 1 - Rephrase Chain:</a:t>
            </a:r>
          </a:p>
          <a:p>
            <a:r>
              <a:t>  Input: chat history + current follow-up question.</a:t>
            </a:r>
          </a:p>
          <a:p>
            <a:r>
              <a:t>  Output: a standalone, self-contained version of the question.</a:t>
            </a:r>
          </a:p>
          <a:p>
            <a:r>
              <a:t>  Uses the LLM itself to do the rephrasing.</a:t>
            </a:r>
          </a:p>
          <a:p>
            <a:r>
              <a:t>Chain 2 - Answer Chain:</a:t>
            </a:r>
          </a:p>
          <a:p>
            <a:r>
              <a:t>  Input: the rephrased standalone question.</a:t>
            </a:r>
          </a:p>
          <a:p>
            <a:r>
              <a:t>  Output: the final answer from standard RAG.</a:t>
            </a:r>
          </a:p>
          <a:p>
            <a:r>
              <a:t>Chat history is maintained as a Python list of HumanMessage and AIMessage objects.</a:t>
            </a:r>
          </a:p>
          <a:p>
            <a:r>
              <a:t>Each turn: append the original question (HumanMessage) and answer (AIMessage) to history.</a:t>
            </a:r>
          </a:p>
          <a:p>
            <a:r>
              <a:t>Key benefit: the retriever always receives a complete, unambiguous question.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PyPDFLoader?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PyPDFLoader is a LangChain document loader that reads PDF files.</a:t>
            </a:r>
          </a:p>
          <a:p>
            <a:r>
              <a:t>It splits the PDF into one Document object per page.</a:t>
            </a:r>
          </a:p>
          <a:p>
            <a:r>
              <a:t>Each Document automatically gets metadata: {'source': 'filename.pdf', 'page': 0}</a:t>
            </a:r>
          </a:p>
          <a:p>
            <a:r>
              <a:t>Page numbers in metadata are 0-indexed (page 0 = page 1 in the actual PDF).</a:t>
            </a:r>
          </a:p>
          <a:p>
            <a:r>
              <a:t>Usage:</a:t>
            </a:r>
          </a:p>
          <a:p>
            <a:r>
              <a:t>  pages = PyPDFLoader('path/to/file.pdf').load()</a:t>
            </a:r>
          </a:p>
          <a:p>
            <a:r>
              <a:t>After loading, pass pages to RecursiveCharacterTextSplitter to chunk them further.</a:t>
            </a:r>
          </a:p>
          <a:p>
            <a:r>
              <a:t>Why chunk after loading? PDF pages can still be very long for a prompt.</a:t>
            </a:r>
          </a:p>
          <a:p>
            <a:r>
              <a:t>Requires the pypdf package: pip install pypdf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Session State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Streamlit re-runs the entire Python script on every user interaction.</a:t>
            </a:r>
          </a:p>
          <a:p>
            <a:r>
              <a:t>This means normal Python variables are reset on every interaction.</a:t>
            </a:r>
          </a:p>
          <a:p>
            <a:r>
              <a:t>st.session_state is a special dictionary that persists across re-runs.</a:t>
            </a:r>
          </a:p>
          <a:p>
            <a:r>
              <a:t>In the PDF Chat App, three things are stored in session_state:</a:t>
            </a:r>
          </a:p>
          <a:p>
            <a:r>
              <a:t>  chain: the built RAG chain (so the PDF is not re-indexed on every question).</a:t>
            </a:r>
          </a:p>
          <a:p>
            <a:r>
              <a:t>  messages: the chat history (so previous messages stay visible).</a:t>
            </a:r>
          </a:p>
          <a:p>
            <a:r>
              <a:t>  pdf_name: the name of the active PDF (for display in the sidebar).</a:t>
            </a:r>
          </a:p>
          <a:p>
            <a:r>
              <a:t>Think of session_state as the app's memory within a single browser session.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PDF Upload Flow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Step 1: User selects a PDF via st.file_uploader in the sidebar.</a:t>
            </a:r>
          </a:p>
          <a:p>
            <a:r>
              <a:t>Step 2: User clicks 'Process PDF' button to trigger indexing.</a:t>
            </a:r>
          </a:p>
          <a:p>
            <a:r>
              <a:t>Step 3: The uploaded file is written to a temporary file on disk.</a:t>
            </a:r>
          </a:p>
          <a:p>
            <a:r>
              <a:t>  Why temp file? PyPDFLoader needs a file path - it cannot read a file object directly.</a:t>
            </a:r>
          </a:p>
          <a:p>
            <a:r>
              <a:t>Step 4: PyPDFLoader reads the temp file and returns one Document per page.</a:t>
            </a:r>
          </a:p>
          <a:p>
            <a:r>
              <a:t>Step 5: RecursiveCharacterTextSplitter splits pages into 500-character chunks with 50 overlap.</a:t>
            </a:r>
          </a:p>
          <a:p>
            <a:r>
              <a:t>Step 6: Embeddings are generated and Chroma vectorstore is built from the chunks.</a:t>
            </a:r>
          </a:p>
          <a:p>
            <a:r>
              <a:t>Step 7: The RAG chain is stored in st.session_state.chain.</a:t>
            </a:r>
          </a:p>
          <a:p>
            <a:r>
              <a:t>Step 8: Temp file is deleted with os.unlink() to clean up disk space.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PDF Chat Flow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Step 1: User types a question into the st.chat_input box at the bottom.</a:t>
            </a:r>
          </a:p>
          <a:p>
            <a:r>
              <a:t>Step 2: The question is added to session_state.messages and displayed.</a:t>
            </a:r>
          </a:p>
          <a:p>
            <a:r>
              <a:t>Step 3: st.session_state.chain.invoke(question) runs the RAG pipeline.</a:t>
            </a:r>
          </a:p>
          <a:p>
            <a:r>
              <a:t>Step 4: RunnableParallel retrieves both the answer and the source Documents.</a:t>
            </a:r>
          </a:p>
          <a:p>
            <a:r>
              <a:t>Step 5: Page citations are extracted from each source Document's metadata.</a:t>
            </a:r>
          </a:p>
          <a:p>
            <a:r>
              <a:t>  doc.metadata['page'] gives the 0-indexed page number.</a:t>
            </a:r>
          </a:p>
          <a:p>
            <a:r>
              <a:t>  Adding 1 converts to the 1-indexed page number the user expects.</a:t>
            </a:r>
          </a:p>
          <a:p>
            <a:r>
              <a:t>Step 6: The answer and citations are combined into one reply string.</a:t>
            </a:r>
          </a:p>
          <a:p>
            <a:r>
              <a:t>Step 7: The reply is added to session_state.messages and rendered as a chat bubble.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PDF Chat App - Test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Run the app with:  streamlit run app.py</a:t>
            </a:r>
          </a:p>
          <a:p>
            <a:r>
              <a:t>Test 1: Upload a PDF -&gt; does 'Ready - N chunks' appear in the sidebar?</a:t>
            </a:r>
          </a:p>
          <a:p>
            <a:r>
              <a:t>Test 2: Ask a question covered in the PDF -&gt; is a page number cited in the answer?</a:t>
            </a:r>
          </a:p>
          <a:p>
            <a:r>
              <a:t>Test 3: Ask something not in the PDF -&gt; does the app say 'I don't know'?</a:t>
            </a:r>
          </a:p>
          <a:p>
            <a:r>
              <a:t>Test 4: Click 'Clear Chat' -&gt; does history wipe while the PDF stays loaded?</a:t>
            </a:r>
          </a:p>
          <a:p>
            <a:r>
              <a:t>Test 5: Upload a second PDF -&gt; does the old chat history clear automatically?</a:t>
            </a:r>
          </a:p>
          <a:p>
            <a:r>
              <a:t>Common fix: ModuleNotFoundError: pypdf  -&gt;  pip install pypdf</a:t>
            </a:r>
          </a:p>
          <a:p>
            <a:r>
              <a:t>Common fix: Answer ignores PDF  -&gt;  increase k or reduce chunk_size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PDF Chat with Ollama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The PDF Chat App can run fully offline by swapping Gemini with Ollama.</a:t>
            </a:r>
          </a:p>
          <a:p>
            <a:r>
              <a:t>Only three lines in app.py need to change:</a:t>
            </a:r>
          </a:p>
          <a:p>
            <a:r>
              <a:t>  1. Import: from langchain_ollama import ChatOllama, OllamaEmbeddings</a:t>
            </a:r>
          </a:p>
          <a:p>
            <a:r>
              <a:t>  2. embeddings = OllamaEmbeddings(model='nomic-embed-text')</a:t>
            </a:r>
          </a:p>
          <a:p>
            <a:r>
              <a:t>     First run: ollama pull nomic-embed-text</a:t>
            </a:r>
          </a:p>
          <a:p>
            <a:r>
              <a:t>  3. llm = ChatOllama(model='phi3:mini', temperature=0.2)</a:t>
            </a:r>
          </a:p>
          <a:p>
            <a:r>
              <a:t>Also simplify the chain: remove RunnableParallel, use a plain sequential chain.</a:t>
            </a:r>
          </a:p>
          <a:p>
            <a:r>
              <a:t>  (Ollama does not support the parallel sources branch in the same way.)</a:t>
            </a:r>
          </a:p>
          <a:p>
            <a:r>
              <a:t>Everything else - the UI, file upload, chunking, session state - stays identical.</a:t>
            </a:r>
          </a:p>
          <a:p>
            <a:r>
              <a:t>Use case: confidential documents that must never leave the local machine.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Recap - The Full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Day 4 built the indexing pipeline: load -&gt; chunk -&gt; embed -&gt; store in ChromaDB.</a:t>
            </a:r>
          </a:p>
          <a:p>
            <a:r>
              <a:t>Day 5 built the query pipeline: question -&gt; embed -&gt; retrieve -&gt; prompt -&gt; LLM -&gt; answer.</a:t>
            </a:r>
          </a:p>
          <a:p>
            <a:r>
              <a:t>Together they form a complete Retrieval Augmented Generation (RAG) system.</a:t>
            </a:r>
          </a:p>
          <a:p>
            <a:r>
              <a:t>LangChain LCEL ties the query pipeline into a composable chain using the | operator.</a:t>
            </a:r>
          </a:p>
          <a:p>
            <a:r>
              <a:t>RunnableParallel enables source citations by running answer and retrieval in parallel.</a:t>
            </a:r>
          </a:p>
          <a:p>
            <a:r>
              <a:t>Three retrieval strategies: similarity (default), score_threshold (filter noise), MMR (diversity).</a:t>
            </a:r>
          </a:p>
          <a:p>
            <a:r>
              <a:t>Conversational RAG fixes stateless RAG by rephrasing follow-ups before retrieval.</a:t>
            </a:r>
          </a:p>
          <a:p>
            <a:r>
              <a:t>Streamlit + PyPDFLoader enables a full PDF Chat App with citations in a single file.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Terms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Embedding: a list of numbers representing the meaning of a text chunk.</a:t>
            </a:r>
          </a:p>
          <a:p>
            <a:r>
              <a:t>Vector database: stores embeddings and enables similarity search.</a:t>
            </a:r>
          </a:p>
          <a:p>
            <a:r>
              <a:t>ChromaDB: the local vector database used in Day 5.</a:t>
            </a:r>
          </a:p>
          <a:p>
            <a:r>
              <a:t>RAG: Retrieval Augmented Generation - search first, then answer.</a:t>
            </a:r>
          </a:p>
          <a:p>
            <a:r>
              <a:t>LCEL: LangChain Expression Language - pipe | operator to chain components.</a:t>
            </a:r>
          </a:p>
          <a:p>
            <a:r>
              <a:t>RunnablePassthrough: passes input through unchanged in a chain.</a:t>
            </a:r>
          </a:p>
          <a:p>
            <a:r>
              <a:t>RunnableParallel: runs multiple chain branches on the same input simultaneously.</a:t>
            </a:r>
          </a:p>
          <a:p>
            <a:r>
              <a:t>MMR: Maximal Marginal Relevance - retrieval balancing relevance and diversity.</a:t>
            </a:r>
          </a:p>
          <a:p>
            <a:r>
              <a:t>st.session_state: Streamlit's persistent storage across user interactions.</a:t>
            </a:r>
          </a:p>
          <a:p>
            <a:r>
              <a:t>PyPDFLoader: LangChain loader that reads PDF files page by page.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1. What does RunnablePassthrough do in a LangChain chain?</a:t>
            </a:r>
          </a:p>
          <a:p>
            <a:r>
              <a:t>2. What is the difference between RunnableParallel and a sequential chain?</a:t>
            </a:r>
          </a:p>
          <a:p>
            <a:r>
              <a:t>3. How do you attach source metadata to a Document object?</a:t>
            </a:r>
          </a:p>
          <a:p>
            <a:r>
              <a:t>4. What does search_type='mmr' do differently from default similarity search?</a:t>
            </a:r>
          </a:p>
          <a:p>
            <a:r>
              <a:t>5. What does score_threshold filter out during retrieval?</a:t>
            </a:r>
          </a:p>
          <a:p>
            <a:r>
              <a:t>6. Why is the vectorstore stored in st.session_state?</a:t>
            </a:r>
          </a:p>
          <a:p>
            <a:r>
              <a:t>7. What does format_docs do in the RAG chain?</a:t>
            </a:r>
          </a:p>
          <a:p>
            <a:r>
              <a:t>8. Why does the conversational RAG chain rephrase the question before retrieving?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Preview: </a:t>
            </a:r>
            <a:r>
              <a:rPr lang="en-US" dirty="0"/>
              <a:t> </a:t>
            </a:r>
            <a:r>
              <a:rPr dirty="0"/>
              <a:t>Tools and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Day 6 moves beyond RAG into a more powerful pattern: Agents.</a:t>
            </a:r>
          </a:p>
          <a:p>
            <a:r>
              <a:t>What is an Agent? An LLM that decides at runtime which tool to call and when.</a:t>
            </a:r>
          </a:p>
          <a:p>
            <a:r>
              <a:t>RAG is passive: always retrieves then answers.</a:t>
            </a:r>
          </a:p>
          <a:p>
            <a:r>
              <a:t>An agent is active: it reasons, picks a tool, observes the result, and repeats.</a:t>
            </a:r>
          </a:p>
          <a:p>
            <a:r>
              <a:t>ReAct (Reasoning + Acting): the agent alternates between thinking and tool use.</a:t>
            </a:r>
          </a:p>
          <a:p>
            <a:r>
              <a:t>Example tools: web search, calculator, database query, your own Python functions.</a:t>
            </a:r>
          </a:p>
          <a:p>
            <a:r>
              <a:t>You will build a ReAct agent with LangChain and give it custom tools.</a:t>
            </a:r>
          </a:p>
          <a:p>
            <a:r>
              <a:t>Memory integration: combine the agent with conversation memory for multi-turn reasoning.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279</TotalTime>
  <Words>3977</Words>
  <Application>Microsoft Office PowerPoint</Application>
  <PresentationFormat>On-screen Show (4:3)</PresentationFormat>
  <Paragraphs>315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Gill Sans MT</vt:lpstr>
      <vt:lpstr>Gallery</vt:lpstr>
      <vt:lpstr>Day 5 - RAG Part 2: Full RAG Application</vt:lpstr>
      <vt:lpstr>What is a Vector? (Prerequisite)</vt:lpstr>
      <vt:lpstr>What is an Embedding Model? (Prerequisite)</vt:lpstr>
      <vt:lpstr>What is a Vector Database? (Prerequisite)</vt:lpstr>
      <vt:lpstr>What is an LLM? (Prerequisite)</vt:lpstr>
      <vt:lpstr>What is RAG? (Prerequisite)</vt:lpstr>
      <vt:lpstr>What is LangChain? (Prerequisite)</vt:lpstr>
      <vt:lpstr>What is Streamlit? (Prerequisite)</vt:lpstr>
      <vt:lpstr>What We Built in Day 4 - The Preparation Pipeline</vt:lpstr>
      <vt:lpstr>What We Build in Day 5 - The Query Pipeline</vt:lpstr>
      <vt:lpstr>Why Retrieve top-k Chunks, Not the Whole Document?</vt:lpstr>
      <vt:lpstr>Raw RAG - Doing It Without LangChain</vt:lpstr>
      <vt:lpstr>RecursiveCharacterTextSplitter Explained</vt:lpstr>
      <vt:lpstr>RAG Chain with LangChain LCEL</vt:lpstr>
      <vt:lpstr>Ollama - Running LLMs Locally</vt:lpstr>
      <vt:lpstr>Why Source Citations Matter</vt:lpstr>
      <vt:lpstr>Document Metadata - Attaching Source Information</vt:lpstr>
      <vt:lpstr>RunnableParallel - Getting Answer and Sources Together</vt:lpstr>
      <vt:lpstr>Retrieval Strategy 1 - Similarity Search (Default)</vt:lpstr>
      <vt:lpstr>Retrieval Strategy 2 - Score Threshold</vt:lpstr>
      <vt:lpstr>Retrieval Strategy 3 - MMR (Maximal Marginal Relevance)</vt:lpstr>
      <vt:lpstr>Choosing the Right Retrieval Strategy</vt:lpstr>
      <vt:lpstr>The Problem with Stateless RAG</vt:lpstr>
      <vt:lpstr>Conversational RAG - Two-Chain Architecture</vt:lpstr>
      <vt:lpstr>What is PyPDFLoader?</vt:lpstr>
      <vt:lpstr>Streamlit Session State Explained</vt:lpstr>
      <vt:lpstr>How the PDF Upload Flow Works</vt:lpstr>
      <vt:lpstr>How the PDF Chat Flow Works</vt:lpstr>
      <vt:lpstr>PDF Chat App - Test Checklist</vt:lpstr>
      <vt:lpstr>Offline PDF Chat with Ollama</vt:lpstr>
      <vt:lpstr>Day 5 Recap - The Full Picture</vt:lpstr>
      <vt:lpstr>Key Terms Glossary</vt:lpstr>
      <vt:lpstr>MCQ Topics</vt:lpstr>
      <vt:lpstr>Preview:  Tools and Agents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8</cp:revision>
  <dcterms:created xsi:type="dcterms:W3CDTF">2013-01-27T09:14:16Z</dcterms:created>
  <dcterms:modified xsi:type="dcterms:W3CDTF">2026-10-16T10:51:06Z</dcterms:modified>
  <cp:category/>
</cp:coreProperties>
</file>