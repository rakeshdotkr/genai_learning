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9" r:id="rId30"/>
    <p:sldId id="300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51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53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8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3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9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53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84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08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61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4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rial"/>
              </a:defRPr>
            </a:pPr>
            <a:r>
              <a:rPr dirty="0"/>
              <a:t>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98642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Embeddings, Vector Databases, Document Loading and Chunking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Python 3.13+ | Gemini or </a:t>
            </a:r>
            <a:r>
              <a:rPr sz="2400" dirty="0" err="1"/>
              <a:t>Ollama</a:t>
            </a:r>
            <a:r>
              <a:rPr sz="2400" dirty="0"/>
              <a:t> | </a:t>
            </a:r>
            <a:r>
              <a:rPr sz="2400" dirty="0" err="1"/>
              <a:t>ChromaDB</a:t>
            </a:r>
            <a:r>
              <a:rPr sz="2400" dirty="0"/>
              <a:t> | </a:t>
            </a:r>
            <a:r>
              <a:rPr sz="2400" dirty="0" err="1"/>
              <a:t>LangChain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83564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Explain why Retrieval-Augmented Generation (RAG) is useful.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Describe embeddings and how semantic similarity is estimated.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Explain what a vector database stores and how </a:t>
            </a:r>
            <a:r>
              <a:rPr sz="2400" dirty="0" err="1"/>
              <a:t>ChromaDB</a:t>
            </a:r>
            <a:r>
              <a:rPr sz="2400" dirty="0"/>
              <a:t> searches it.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Understand metadata, CRUD operations and persistent storage.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Describe document loaders, chunking and the Load → Chunk → Embed → Store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Prerequisite: 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06391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large language model (LLM) generates text by learning patterns from large amounts of training data.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can answer questions, summarize, classify and generate content.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model does not automatically know the contents of your private files or live business systems.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Its answer may be incomplete or outdated when the required information was not in its training data or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Knowledge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69458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general-purpose LLM may not know your company's internal policies.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cannot automatically read a PDF you uploaded unless an application provides that content to it.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does not automatically see a database that changes every hour.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application needs a way to find relevant external information and supply it when the question is asked.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83564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RAG stands for Retrieval-Augmented Generation.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Retrieval finds relevant information from a knowledge source.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Augmentation adds that information to the model's prompt as context.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Generation uses the question and retrieved context to produce an answer.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aim is to make answers more relevant to the supplied documents—not to guarantee correctness.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RAG: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4257" y="1753264"/>
            <a:ext cx="8406517" cy="21585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l">
              <a:spcAft>
                <a:spcPts val="11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1. A user asks a question.</a:t>
            </a:r>
          </a:p>
          <a:p>
            <a:pPr algn="l">
              <a:spcAft>
                <a:spcPts val="11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2. The application searches its prepared document collection.</a:t>
            </a:r>
          </a:p>
          <a:p>
            <a:pPr algn="l">
              <a:spcAft>
                <a:spcPts val="11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3. It retrieves a small set of relevant </a:t>
            </a:r>
            <a:r>
              <a:rPr sz="2000" dirty="0">
                <a:highlight>
                  <a:srgbClr val="FFFF00"/>
                </a:highlight>
              </a:rPr>
              <a:t>text chunks</a:t>
            </a:r>
            <a:r>
              <a:rPr sz="2000" dirty="0"/>
              <a:t>.</a:t>
            </a:r>
          </a:p>
          <a:p>
            <a:pPr algn="l">
              <a:spcAft>
                <a:spcPts val="11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4. The application sends the question and retrieved chunks to the LLM.</a:t>
            </a:r>
          </a:p>
          <a:p>
            <a:pPr algn="l">
              <a:spcAft>
                <a:spcPts val="110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5. The LLM generates an answer grounded in the provided context.</a:t>
            </a:r>
            <a:r>
              <a:rPr lang="en-US" sz="2000" dirty="0"/>
              <a:t> 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What is Retrieval-Augmented Generation (RAG) - GeeksforGeeks">
            <a:extLst>
              <a:ext uri="{FF2B5EF4-FFF2-40B4-BE49-F238E27FC236}">
                <a16:creationId xmlns:a16="http://schemas.microsoft.com/office/drawing/2014/main" id="{AFB5445B-911D-D5B3-98A5-D0F217CBF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3532" y="3276600"/>
            <a:ext cx="3004868" cy="300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6BF22-BBA9-60DC-4B66-4EE50DE2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60" y="793630"/>
            <a:ext cx="10604740" cy="530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3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Why Text Must Become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83564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Computers need a numerical representation to compare the meaning of text efficiently.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embedding model converts text into a </a:t>
            </a:r>
            <a:r>
              <a:rPr sz="2400" dirty="0">
                <a:highlight>
                  <a:srgbClr val="FFFF00"/>
                </a:highlight>
              </a:rPr>
              <a:t>numeric vector</a:t>
            </a:r>
            <a:r>
              <a:rPr sz="24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vector is an ordered list of numbers.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vector captures patterns of meaning learned by the embedding model.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vector is not a human-readable definition or a simple word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an Embedding?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embedding represents a </a:t>
            </a:r>
            <a:r>
              <a:rPr sz="2400" dirty="0">
                <a:highlight>
                  <a:srgbClr val="FFFF00"/>
                </a:highlight>
              </a:rPr>
              <a:t>piece of text </a:t>
            </a:r>
            <a:r>
              <a:rPr sz="2400" dirty="0"/>
              <a:t>as a vector in a high-dimensional space.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Texts with related meanings often have vectors that are close under the model's similarity measure.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Unrelated texts often have less similar vectors.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result depends on the embedding model and the text supplied.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embedding can represent a sentence, paragraph or document chunk—not only a single 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A Useful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2049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Imagine a map where related topics tend to appear near one another.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Text about Python programming may be near text about coding in Python.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Text about reptiles may be farther away from programming content.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Unlike a physical map, each vector may contain hundreds or thousands of dimensions.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map analogy explains similarity; it does not mean each dimension has an obvious human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Embedding Models and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embedding model performs the </a:t>
            </a:r>
            <a:r>
              <a:rPr sz="2400" dirty="0">
                <a:highlight>
                  <a:srgbClr val="FFFF00"/>
                </a:highlight>
              </a:rPr>
              <a:t>text-to-vector</a:t>
            </a:r>
            <a:r>
              <a:rPr sz="2400" dirty="0"/>
              <a:t> conversion.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file uses Gemini's </a:t>
            </a:r>
            <a:r>
              <a:rPr sz="2400" dirty="0">
                <a:highlight>
                  <a:srgbClr val="FFFF00"/>
                </a:highlight>
              </a:rPr>
              <a:t>text-embedding-00</a:t>
            </a:r>
            <a:r>
              <a:rPr lang="en-US" sz="2400" dirty="0">
                <a:highlight>
                  <a:srgbClr val="FFFF00"/>
                </a:highlight>
              </a:rPr>
              <a:t>1</a:t>
            </a:r>
            <a:r>
              <a:rPr sz="2400" dirty="0"/>
              <a:t> model as its cloud example.</a:t>
            </a:r>
            <a:r>
              <a:rPr lang="en-US" sz="2400" dirty="0"/>
              <a:t>`</a:t>
            </a:r>
            <a:endParaRPr sz="2400" dirty="0"/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identifies its output as a 768-dimensional vector.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also introduces </a:t>
            </a:r>
            <a:r>
              <a:rPr sz="2400" dirty="0" err="1"/>
              <a:t>Ollama</a:t>
            </a:r>
            <a:r>
              <a:rPr sz="2400" dirty="0"/>
              <a:t> with a local </a:t>
            </a:r>
            <a:r>
              <a:rPr sz="2400" dirty="0">
                <a:highlight>
                  <a:srgbClr val="FFFF00"/>
                </a:highlight>
              </a:rPr>
              <a:t>nomic-embed-text</a:t>
            </a:r>
            <a:r>
              <a:rPr sz="2400" dirty="0"/>
              <a:t> model as an alternative.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Vector dimensions and compatibility depend on the selected model; use a consistent model for stored and query embeddings.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Cloud Embeddings vs Local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Cloud option: send text to a provider's API and receive vectors; an API key and network access are typically required.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Local option: run an embedding model on your own machine; this can avoid a cloud API key and related usage charges.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Local models require suitable resources and must be installed or downloaded.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Consider privacy, cost, latency, hardware and operational needs when choosing.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demonstrates Gemini and </a:t>
            </a:r>
            <a:r>
              <a:rPr sz="2400" dirty="0" err="1"/>
              <a:t>Ollama</a:t>
            </a:r>
            <a:r>
              <a:rPr sz="2400" dirty="0"/>
              <a:t> as the two routes.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an API Client and an API Key?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SDK/client library gives application code a convenient way to call a provider's API.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An API key is a credential used to authenticate requests to a service.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Environment variables and a local environment file are common ways to configure secrets outside source code.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Do not place real API keys in presentations, public repositories or shared examples.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embedding workflow uses a provider client to submit text and receive vectors.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Similarity Search?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06391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Similarity search finds stored items whose representations are closest to a query representation.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query can express the same idea using different words from the stored text.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This differs from exact keyword search, which looks for matching terms.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Semantic search can still miss relevant content; quality depends on embeddings, chunking and search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Cosine Similarity: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Cosine similarity compares the angle between two vectors.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value near 1 indicates vectors point in a similar direction.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value near 0 indicates perpendicular vectors; it is often treated as little directional similarity.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value near -1 indicates opposite directions, when the embedding space and metric allow such values.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These are geometric interpretations, not guaranteed percentages of meaning overlap.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Cosine Similarity: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calculation combines the vectors' dot product and their magnitudes.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emphasizes direction rather than the raw length of each vector.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zero-length vector needs special handling because its magnitude would make the calculation undefined.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uses small illustrative vectors first, then compares embeddings of real sentences.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highest score among tested pairs identifies the most similar pair in that set—not a universal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/>
              <a:t>Why a Python List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69458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For a handful of vectors, comparing each pair directly is easy to understand.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As the collection grows to thousands or millions of chunks, repeatedly comparing every item becomes </a:t>
            </a:r>
            <a:r>
              <a:rPr sz="2400" dirty="0">
                <a:highlight>
                  <a:srgbClr val="FFFF00"/>
                </a:highlight>
              </a:rPr>
              <a:t>expensive</a:t>
            </a:r>
            <a:r>
              <a:rPr sz="24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Applications also need filtering, identifiers, metadata and saved data.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vector database </a:t>
            </a:r>
            <a:r>
              <a:rPr sz="2400" dirty="0">
                <a:highlight>
                  <a:srgbClr val="FFFF00"/>
                </a:highlight>
              </a:rPr>
              <a:t>organizes vector records </a:t>
            </a:r>
            <a:r>
              <a:rPr sz="2400" dirty="0"/>
              <a:t>and </a:t>
            </a:r>
            <a:r>
              <a:rPr sz="2400" dirty="0">
                <a:highlight>
                  <a:srgbClr val="FFFF00"/>
                </a:highlight>
              </a:rPr>
              <a:t>provides search-oriented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a Vector Database?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373983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A vector database stores vectors and supports similarity-oriented retrieval.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It commonly associates each vector with original text, an identifier and metadata.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Indexing can make nearest-</a:t>
            </a:r>
            <a:r>
              <a:rPr dirty="0" err="1"/>
              <a:t>neighbour</a:t>
            </a:r>
            <a:r>
              <a:rPr dirty="0"/>
              <a:t> searches faster at scale; approximate methods trade some exactness for speed.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Metadata filters narrow the search to records that meet conditions.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Persistence allows data to remain available after the program stops.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Meet ChromaDB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ChromaDB</a:t>
            </a:r>
            <a:r>
              <a:rPr sz="2400" dirty="0"/>
              <a:t> is the local, open-source vector database used in this learning material.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can store text documents, embeddings, metadata and IDs in collections.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supports adding records, querying, updating, retrieving and deleting records.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can be used in memory for short experiments or persisted to disk.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In a RAG application, it acts as the searchable store for prepared document chunks.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ChromaDB: In-Memory vs Persistent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373983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In-memory client: convenient for experiments; data is lost when the process or in-memory client ends.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Persistent client: stores data at a disk location so a later process can reopen it.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A saved database is useful when preparing a knowledge base once and querying it repeatedly.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Persistence is not the same as a cloud database or a production backup strategy.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dirty="0"/>
              <a:t>The source introduces both client types and demonstrates reloading a named collection.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a Collection?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06391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collection is a named group of records inside the vector database.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provides a logical boundary for related knowledge, such as a course FAQ or document knowledge base.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collection can contain multiple records, each with its own identifier and associated information.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application queries the relevant collection when searching for an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Four Parts of a Chroma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Document: the original text that can be returned to the user or supplied to an LLM.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Embedding: the numerical vector used for similarity-based retrieval.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Metadata: descriptive fields such as source filename, page number, language or level.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ID: a unique identifier used to refer to a particular record.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Keeping these together lets a result include both relevant content and information about its origin.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CRUD Operations in a Vector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2049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Create/add: insert records into a collection.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Read/get: retrieve records, often by ID or other supported criteria.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Update: replace or revise the content or metadata associated with existing records.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Delete: remove records that are no longer needed.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CRUD means Create, Read, Update and Delete; it is standard data-management vocabulary.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Semantic Query Results: Distance vs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83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A query is converted into a representation that can be compared with stored vectors.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The database returns the nearest or most relevant records according to its configured metric.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In the source's ChromaDB examples, results expose distances, where lower values indicate closer matches.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Distance values are not necessarily percentages and should not be read as universal confidence scores.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Always understand the metric and direction of the result before interpreting rankings.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Metadata Filtering?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Metadata is structured information attached to a record rather than part of the main text itself.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filter can restrict results to a particular language, difficulty level, source file or category.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Example: search for a reusable-code explanation but only among Python records.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Filtering combines a semantic question with explicit constraints.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>
                <a:highlight>
                  <a:srgbClr val="FFFF00"/>
                </a:highlight>
              </a:rPr>
              <a:t>Useful metadata must be captured during ingestion and preserved when documents are split into chunks.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/>
              <a:t>Why Persistence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066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A temporary collection is useful for a quick demonstration but must be rebuilt when it disappears.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000" dirty="0">
                <a:highlight>
                  <a:srgbClr val="FFFF00"/>
                </a:highlight>
              </a:rPr>
              <a:t>Persistent storage lets an application reuse previously prepared records across program runs</a:t>
            </a:r>
            <a:r>
              <a:rPr sz="20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A typical workflow creates or opens a database, obtains a collection and queries it later.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Applications should avoid unintentionally duplicating records when an ingestion job is rerun.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The source illustrates creating a knowledge base and reopening it in a fresh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Where LangChain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31297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LangChain</a:t>
            </a:r>
            <a:r>
              <a:rPr sz="2400" dirty="0"/>
              <a:t> is a framework that provides </a:t>
            </a:r>
            <a:r>
              <a:rPr sz="2400" dirty="0">
                <a:highlight>
                  <a:srgbClr val="FFFF00"/>
                </a:highlight>
              </a:rPr>
              <a:t>reusable interfaces </a:t>
            </a:r>
            <a:r>
              <a:rPr sz="2400" dirty="0"/>
              <a:t>for </a:t>
            </a:r>
            <a:r>
              <a:rPr sz="2400" dirty="0">
                <a:highlight>
                  <a:srgbClr val="FFFF00"/>
                </a:highlight>
              </a:rPr>
              <a:t>building applications</a:t>
            </a:r>
            <a:r>
              <a:rPr sz="2400" dirty="0"/>
              <a:t> around language models.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connects components such as document objects, vector stores and retrievers.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uses </a:t>
            </a:r>
            <a:r>
              <a:rPr sz="2400" dirty="0" err="1">
                <a:highlight>
                  <a:srgbClr val="FFFF00"/>
                </a:highlight>
              </a:rPr>
              <a:t>langchain</a:t>
            </a:r>
            <a:r>
              <a:rPr sz="2400" dirty="0">
                <a:highlight>
                  <a:srgbClr val="FFFF00"/>
                </a:highlight>
              </a:rPr>
              <a:t>-chroma</a:t>
            </a:r>
            <a:r>
              <a:rPr sz="2400" dirty="0"/>
              <a:t> to expose </a:t>
            </a:r>
            <a:r>
              <a:rPr sz="2400" dirty="0" err="1"/>
              <a:t>ChromaDB</a:t>
            </a:r>
            <a:r>
              <a:rPr sz="2400" dirty="0"/>
              <a:t> through </a:t>
            </a:r>
            <a:r>
              <a:rPr sz="2400" dirty="0" err="1"/>
              <a:t>LangChain's</a:t>
            </a:r>
            <a:r>
              <a:rPr sz="2400" dirty="0"/>
              <a:t> vector-store interface.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goal is to make retrieval components easier to plug into a larger RAG chain.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LangChain</a:t>
            </a:r>
            <a:r>
              <a:rPr sz="2400" dirty="0"/>
              <a:t> is an application framework; </a:t>
            </a:r>
            <a:r>
              <a:rPr sz="2400" dirty="0" err="1"/>
              <a:t>ChromaDB</a:t>
            </a:r>
            <a:r>
              <a:rPr sz="2400" dirty="0"/>
              <a:t> is the storage/search component in this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Is a LangChain Document?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Document object groups text content with metadata.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text is the content that may be embedded, searched or passed to an LLM.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Metadata may record the source filename, page number or other provenance.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When documents are split into chunks, each chunk can retain the original metadata.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This helps trace a retrieved answer back to its source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3664-CF45-EF39-73C3-1B98917B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Retrieval: Direct Search vs. Pipeline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8B26-4406-4B59-7F20-CF8383D6C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similarity_search</a:t>
            </a:r>
            <a:r>
              <a:rPr lang="en-US" dirty="0"/>
              <a:t>:  A direct method on the </a:t>
            </a:r>
            <a:r>
              <a:rPr lang="en-US" dirty="0" err="1"/>
              <a:t>VectorStore</a:t>
            </a:r>
            <a:r>
              <a:rPr lang="en-US" dirty="0"/>
              <a:t> object. It takes a text query, searches the database immediately, and returns a raw list of matching documents.</a:t>
            </a:r>
          </a:p>
          <a:p>
            <a:r>
              <a:rPr lang="en-US" b="1" dirty="0" err="1"/>
              <a:t>as_retriever</a:t>
            </a:r>
            <a:r>
              <a:rPr lang="en-US" dirty="0"/>
              <a:t>:  A wrapper method that converts the </a:t>
            </a:r>
            <a:r>
              <a:rPr lang="en-US" dirty="0" err="1"/>
              <a:t>VectorStore</a:t>
            </a:r>
            <a:r>
              <a:rPr lang="en-US" dirty="0"/>
              <a:t> into a generalized </a:t>
            </a:r>
            <a:r>
              <a:rPr lang="en-US" dirty="0" err="1"/>
              <a:t>LangChain</a:t>
            </a:r>
            <a:r>
              <a:rPr lang="en-US" dirty="0"/>
              <a:t> Retriever interface. It does not run a search instantly; instead, it prepares the store to be plugged directly into automated chains.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702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27D2-55F0-4039-98EC-98419FE1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55A1-FEED-6DE7-3501-03EBD9F6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Retrieval: Direct Search vs. Pipeline Integration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4A8468-41A7-B3A4-063F-FF3FBB5B09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09806"/>
              </p:ext>
            </p:extLst>
          </p:nvPr>
        </p:nvGraphicFramePr>
        <p:xfrm>
          <a:off x="1542415" y="2731294"/>
          <a:ext cx="9399905" cy="1726405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416678">
                  <a:extLst>
                    <a:ext uri="{9D8B030D-6E8A-4147-A177-3AD203B41FA5}">
                      <a16:colId xmlns:a16="http://schemas.microsoft.com/office/drawing/2014/main" val="2651125370"/>
                    </a:ext>
                  </a:extLst>
                </a:gridCol>
                <a:gridCol w="3596656">
                  <a:extLst>
                    <a:ext uri="{9D8B030D-6E8A-4147-A177-3AD203B41FA5}">
                      <a16:colId xmlns:a16="http://schemas.microsoft.com/office/drawing/2014/main" val="357574757"/>
                    </a:ext>
                  </a:extLst>
                </a:gridCol>
                <a:gridCol w="3386571">
                  <a:extLst>
                    <a:ext uri="{9D8B030D-6E8A-4147-A177-3AD203B41FA5}">
                      <a16:colId xmlns:a16="http://schemas.microsoft.com/office/drawing/2014/main" val="3726669269"/>
                    </a:ext>
                  </a:extLst>
                </a:gridCol>
              </a:tblGrid>
              <a:tr h="345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Architectural Dimension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similarity_search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as_retriever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3695922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Return Type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List of raw Document objects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 LangChain VectorStoreRetriever wrapper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354296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Execution Timing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Immediate. Queries the database right away.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Deferred. Executes only when called in a chain.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7783826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Primary Utility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Manual querying, quick debugging, custom filtering.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Production RAG pipelines, LLM chains, and agents.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9492258"/>
                  </a:ext>
                </a:extLst>
              </a:tr>
              <a:tr h="345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Calling Syntax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.similarity_search(query, k=4)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.</a:t>
                      </a:r>
                      <a:r>
                        <a:rPr lang="en-IN" sz="1100" kern="100" dirty="0" err="1">
                          <a:effectLst/>
                        </a:rPr>
                        <a:t>as_retriever</a:t>
                      </a:r>
                      <a:r>
                        <a:rPr lang="en-IN" sz="1100" kern="100" dirty="0">
                          <a:effectLst/>
                        </a:rPr>
                        <a:t>().invoke(query)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7002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8D1710-54CF-83AA-5B64-1EB84F47942C}"/>
              </a:ext>
            </a:extLst>
          </p:cNvPr>
          <p:cNvSpPr txBox="1"/>
          <p:nvPr/>
        </p:nvSpPr>
        <p:spPr>
          <a:xfrm>
            <a:off x="2486024" y="4774615"/>
            <a:ext cx="8029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none" strike="noStrike" dirty="0">
                <a:effectLst/>
                <a:latin typeface="Courier New" panose="02070309020205020404" pitchFamily="49" charset="0"/>
              </a:rPr>
              <a:t>k</a:t>
            </a:r>
            <a:r>
              <a:rPr lang="en-US" sz="1200" b="1" u="none" strike="noStrike" dirty="0">
                <a:effectLst/>
                <a:latin typeface="Google Sans"/>
              </a:rPr>
              <a:t> represents the number of top matching documents or text chunks to return</a:t>
            </a:r>
            <a:r>
              <a:rPr lang="en-US" sz="1200" dirty="0"/>
              <a:t> from the search.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255073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/>
              <a:t>Vector Store vs Retriever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vector store manages vector-backed records and offers similarity-search operations.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retriever provides a more general interface: given a query, return relevant documents.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vector store can be adapted into a retriever with a chosen number of results, such as top two.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retriever hides some storage-specific details from the rest of the application.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Day 5 uses this retriever as the retrieval stage in a complete RAG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Are Document Loaders?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document loader reads a source file or group of files and turns the content into </a:t>
            </a:r>
            <a:r>
              <a:rPr sz="2400" dirty="0">
                <a:highlight>
                  <a:srgbClr val="FFFF00"/>
                </a:highlight>
              </a:rPr>
              <a:t>Document objects</a:t>
            </a:r>
            <a:r>
              <a:rPr sz="24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Different loaders handle different formats, such as plain text and PDF.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directory loader can discover multiple files matching a pattern and load them together.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Loaders may attach source information or page details as </a:t>
            </a:r>
            <a:r>
              <a:rPr sz="2400" dirty="0">
                <a:highlight>
                  <a:srgbClr val="FFFF00"/>
                </a:highlight>
              </a:rPr>
              <a:t>metadata</a:t>
            </a:r>
            <a:r>
              <a:rPr sz="24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Loading prepares content for chunking; it does not itself make the content searchable by meaning.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Text, PDF and Directory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TextLoader</a:t>
            </a:r>
            <a:r>
              <a:rPr sz="2400" dirty="0"/>
              <a:t>: reads the content of a plain-text file.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PyPDFLoader</a:t>
            </a:r>
            <a:r>
              <a:rPr sz="2400" dirty="0"/>
              <a:t>: extracts text from a PDF and, in the source example, produces a Document for each page.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DirectoryLoader</a:t>
            </a:r>
            <a:r>
              <a:rPr sz="2400" dirty="0"/>
              <a:t>: finds files in a folder using a pattern and delegates each file to an appropriate loader.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PDF text extraction quality depends on the file; scanned pages may require OCR, which is not covered in this source.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Check that the expected text and metadata were actually loaded before continuing.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Why Chunking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31297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large document may exceed an LLM's context limit or contain far more information than a question needs.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Retrieval works on smaller pieces so it can select only the portions relevant to a query.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Chunks that are too large may contain unrelated material and waste context.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Chunks that are too small may break sentences or separate an idea from its explanation.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suggests 200–500 tokens with roughly 10–20% overlap as an initial rule of thumb; tuning may be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Chunk Size and Chunk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Chunk size sets the target maximum size for a piece of text; the source examples configure it in characters.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Chunk overlap repeats some text from one chunk in the next.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Overlap helps preserve context when an idea crosses a chunk boundary.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Too much overlap increases storage and embedding work; too little may separate connected information.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 compares several size/overlap settings and inspects the resulting number and average size of chunks.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RecursiveCharacterTextSplitter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57431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This is the </a:t>
            </a:r>
            <a:r>
              <a:rPr sz="2400" dirty="0">
                <a:highlight>
                  <a:srgbClr val="FFFF00"/>
                </a:highlight>
              </a:rPr>
              <a:t>general-purpose text splitter</a:t>
            </a:r>
            <a:r>
              <a:rPr sz="2400" dirty="0"/>
              <a:t> used in the source.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tries natural boundaries first: paragraph breaks, then line breaks, then spaces, then individual characters.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aims to keep chunks within the configured size while respecting meaningful boundaries where possible.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can split raw text or Document objects.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When splitting Document objects, the source shows that source metadata is retained on the resulting chunks.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How Chunking Preserves Source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94364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One original file may become many chunks.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Each chunk should keep useful provenance, such as filename or PDF page number.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When a chunk is retrieved, metadata helps the application identify where it came from.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This is important for traceability and for adding source references in a later RAG application.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If metadata is lost during ingestion, later retrieval cannot reliably reconstruct it from the chunk text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283564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Load: read source files and create Document objects.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Chunk: split long content into manageable, often overlapping pieces.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Embed: convert each chunk into a numerical vector using the selected embedding model.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Store: save chunk text, vectors, metadata and unique IDs in </a:t>
            </a:r>
            <a:r>
              <a:rPr sz="2400" dirty="0" err="1"/>
              <a:t>ChromaDB</a:t>
            </a:r>
            <a:r>
              <a:rPr sz="2400" dirty="0"/>
              <a:t>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result is a searchable </a:t>
            </a:r>
            <a:r>
              <a:rPr sz="2400" dirty="0">
                <a:highlight>
                  <a:srgbClr val="FFFF00"/>
                </a:highlight>
              </a:rPr>
              <a:t>knowledge base</a:t>
            </a:r>
            <a:r>
              <a:rPr sz="2400" dirty="0"/>
              <a:t> ready for query-time retrieval.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Query-Time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2049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Receive a user's question.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Generate an embedding for the question using the same compatible embedding model.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Search the stored vectors and request the top-k nearest results.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Return the matched text chunks and their metadata or distances.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9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source's end-to-end example stops at returning search results; Day 5 adds the LLM answer-generation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End-to-End Pipeline: What Connects the Pieces?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715376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Document loader supplies the raw text and provenance.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Text splitter creates smaller Document chunks and retains metadata.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Embedding model converts each chunk to a vector.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ChromaDB</a:t>
            </a:r>
            <a:r>
              <a:rPr sz="2400" dirty="0"/>
              <a:t> stores the text, vectors, metadata and IDs.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query is embedded and compared with stored vectors; the most relevant chunks are returned.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Each component has one responsibility, making the pipeline easier to understand and troubleshoot.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Common Problems to 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454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Poor text extraction: the loader may return empty or garbled content.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Poor chunk boundaries: important context may be separated or mixed with unrelated text.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Incompatible embeddings: query and stored vectors must use compatible dimensions and model behavior.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Missing metadata: search results may be hard to trace to their source.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Incorrect result interpretation: </a:t>
            </a:r>
            <a:r>
              <a:rPr sz="2400" dirty="0" err="1"/>
              <a:t>ChromaDB</a:t>
            </a:r>
            <a:r>
              <a:rPr sz="2400" dirty="0"/>
              <a:t> distance is not the same thing as a similarity percentage.</a:t>
            </a:r>
          </a:p>
          <a:p>
            <a:pPr marL="342900" indent="-34290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Missing or invalid API configuration can prevent cloud embedding requests from succeeding.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 Challenge: Search a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08470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Choose a PDF with selectable text and load its pages.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Inspect how many pages were loaded and whether the extracted text looks correct.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Split the page Documents into chunks and retain page metadata.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Create embeddings and store the chunks in a </a:t>
            </a:r>
            <a:r>
              <a:rPr sz="2400" dirty="0" err="1"/>
              <a:t>ChromaDB</a:t>
            </a:r>
            <a:r>
              <a:rPr sz="2400" dirty="0"/>
              <a:t> collection.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Ask three questions and inspect the returned text, page number and distance.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This challenge combines the concepts from all three sessions without requiring an LLM answer chain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/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3222934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Embeddings represent text as vectors that support semantic comparison.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Cosine similarity measures vector direction; interpretation depends on the metric and embedding space.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 err="1"/>
              <a:t>ChromaDB</a:t>
            </a:r>
            <a:r>
              <a:rPr sz="2000" dirty="0"/>
              <a:t> stores documents, vectors, metadata and IDs in collections.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CRUD, metadata filtering and persistence make the collection manageable and reusable.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 err="1"/>
              <a:t>LangChain's</a:t>
            </a:r>
            <a:r>
              <a:rPr sz="2000" dirty="0"/>
              <a:t> Chroma integration exposes a vector store and retriever interface.</a:t>
            </a:r>
          </a:p>
          <a:p>
            <a:pPr marL="285750" indent="-285750" algn="l">
              <a:spcAft>
                <a:spcPts val="1100"/>
              </a:spcAft>
              <a:buFont typeface="Arial" panose="020B0604020202020204" pitchFamily="34" charset="0"/>
              <a:buChar char="•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Loaders, chunking and the Load → Chunk → Embed → Store pipeline prepare a knowledge base for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225772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What does an embedding vector represent?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Why might semantic search find a result without an exact keyword match?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What is the difference between an in-memory and persistent </a:t>
            </a:r>
            <a:r>
              <a:rPr sz="2400" dirty="0" err="1"/>
              <a:t>ChromaDB</a:t>
            </a:r>
            <a:r>
              <a:rPr sz="2400" dirty="0"/>
              <a:t> client?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What role does metadata play in retrieval?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Why do we use chunk overlap?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Why should query embeddings be compatible with the stored embeddings?</a:t>
            </a:r>
          </a:p>
          <a:p>
            <a:pPr marL="457200" indent="-457200" algn="l">
              <a:spcAft>
                <a:spcPts val="1100"/>
              </a:spcAft>
              <a:buFont typeface="+mj-lt"/>
              <a:buAutoNum type="arabicPeriod"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What are the four main stages of the ingestion pipeline?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Bridge to Day 5: Full RAG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83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Day 4 creates the searchable knowledge base and shows how to retrieve relevant chunks.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Day 5 connects the retriever to a prompt and an LLM.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The application will use retrieved chunks as context for generating answers.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The next stage introduces source citations, retrieval-quality tuning, conversational context and a Streamlit interface for uploading a PDF and chatting with it.</a:t>
            </a:r>
          </a:p>
          <a:p>
            <a:pPr algn="l">
              <a:spcAft>
                <a:spcPts val="1100"/>
              </a:spcAft>
              <a:defRPr sz="1900" b="0">
                <a:solidFill>
                  <a:srgbClr val="000000"/>
                </a:solidFill>
                <a:latin typeface="Arial"/>
              </a:defRPr>
            </a:pPr>
            <a:r>
              <a:t>Key distinction: retrieval finds evidence; generation turns the evidence and question into a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599</TotalTime>
  <Words>3341</Words>
  <Application>Microsoft Office PowerPoint</Application>
  <PresentationFormat>Widescreen</PresentationFormat>
  <Paragraphs>312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Courier New</vt:lpstr>
      <vt:lpstr>Gill Sans MT</vt:lpstr>
      <vt:lpstr>Google Sans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 Retrieval: Direct Search vs. Pipeline Integration</vt:lpstr>
      <vt:lpstr>Vector Retrieval: Direct Search vs. Pipeline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RAG Part 1: Embeddings and Vector Databases</dc:title>
  <dc:subject>Concept explanations and prerequisites for Day 4 RAG training</dc:subject>
  <dc:creator>OpenAI</dc:creator>
  <cp:keywords/>
  <dc:description>generated using python-pptx</dc:description>
  <cp:lastModifiedBy>Rakesh Kr</cp:lastModifiedBy>
  <cp:revision>31</cp:revision>
  <dcterms:created xsi:type="dcterms:W3CDTF">2013-01-27T09:14:16Z</dcterms:created>
  <dcterms:modified xsi:type="dcterms:W3CDTF">2026-10-16T10:50:30Z</dcterms:modified>
  <cp:category/>
</cp:coreProperties>
</file>